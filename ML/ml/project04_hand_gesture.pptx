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1"/>
  </p:normalViewPr>
  <p:slideViewPr>
    <p:cSldViewPr snapToGrid="0">
      <p:cViewPr varScale="1">
        <p:scale>
          <a:sx n="110" d="100"/>
          <a:sy n="110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A6B1E5F7-3B3B-423B-B5D3-F558CB99E6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F1012E5-B1E8-4757-AEE3-CF003890CF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D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57E5D05-B004-4EF4-81EE-6A23B039D8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CE87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6F6BEA-BABA-42C2-9173-9EA68725610C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57150" cy="6858000"/>
          </a:xfrm>
          <a:prstGeom prst="rect">
            <a:avLst/>
          </a:prstGeom>
          <a:solidFill>
            <a:srgbClr val="5EC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35499F3D-F3D3-4556-B6E0-41E908F9B570}"/>
              </a:ext>
            </a:extLst>
          </p:cNvPr>
          <p:cNvSpPr>
            <a:spLocks noGrp="1"/>
          </p:cNvSpPr>
          <p:nvPr/>
        </p:nvSpPr>
        <p:spPr>
          <a:xfrm>
            <a:off x="7810500" y="590550"/>
            <a:ext cx="3105150" cy="5562600"/>
          </a:xfrm>
          <a:prstGeom prst="roundRect">
            <a:avLst>
              <a:gd name="adj" fmla="val 9816"/>
            </a:avLst>
          </a:prstGeom>
          <a:solidFill>
            <a:srgbClr val="121923"/>
          </a:solidFill>
          <a:ln w="9525">
            <a:solidFill>
              <a:srgbClr val="2A35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DB79B6-0764-448C-8130-36D4E15CECE5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PROJECT04 · COMPUTER VISION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A47A6EC-FE8F-4FD0-B438-57B79A392A3C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6858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OpenCV ROI</a:t>
            </a:r>
          </a:p>
          <a:p>
            <a:pPr algn="l">
              <a:lnSpc>
                <a:spcPct val="105000"/>
              </a:lnSpc>
              <a:buNone/>
              <a:defRPr sz="4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8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Hand Gestur</a:t>
            </a:r>
            <a:r>
              <a:rPr lang="en" sz="48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7B7EF5-22C2-4C28-8F3A-7ADBABDA1AAC}"/>
              </a:ext>
            </a:extLst>
          </p:cNvPr>
          <p:cNvSpPr>
            <a:spLocks noGrp="1"/>
          </p:cNvSpPr>
          <p:nvPr/>
        </p:nvSpPr>
        <p:spPr>
          <a:xfrm>
            <a:off x="723900" y="3886200"/>
            <a:ext cx="6858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직접 수집한 webcam ROI 이미지로 손 제스처를 학습하고, 실시간 추론과 피드백 재학습까지 연결한 end-to-end 프로젝트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6BB53E88-38AF-47EB-AF02-3212DB9DBF95}"/>
              </a:ext>
            </a:extLst>
          </p:cNvPr>
          <p:cNvSpPr>
            <a:spLocks noGrp="1"/>
          </p:cNvSpPr>
          <p:nvPr/>
        </p:nvSpPr>
        <p:spPr>
          <a:xfrm>
            <a:off x="723900" y="5162550"/>
            <a:ext cx="1657350" cy="952500"/>
          </a:xfrm>
          <a:prstGeom prst="roundRect">
            <a:avLst>
              <a:gd name="adj" fmla="val 18000"/>
            </a:avLst>
          </a:prstGeom>
          <a:solidFill>
            <a:srgbClr val="1B2029"/>
          </a:solidFill>
          <a:ln w="9525">
            <a:solidFill>
              <a:srgbClr val="333B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2BC887-7692-461F-A73A-81095FD1C58C}"/>
              </a:ext>
            </a:extLst>
          </p:cNvPr>
          <p:cNvSpPr>
            <a:spLocks noGrp="1"/>
          </p:cNvSpPr>
          <p:nvPr/>
        </p:nvSpPr>
        <p:spPr>
          <a:xfrm>
            <a:off x="895350" y="5314950"/>
            <a:ext cx="1314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94.9%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221C690-A36E-48D1-8FB0-196F76A85661}"/>
              </a:ext>
            </a:extLst>
          </p:cNvPr>
          <p:cNvSpPr>
            <a:spLocks noGrp="1"/>
          </p:cNvSpPr>
          <p:nvPr/>
        </p:nvSpPr>
        <p:spPr>
          <a:xfrm>
            <a:off x="876300" y="57340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local evaluation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6867EA99-32CA-4B32-B4B4-0785F6018FDA}"/>
              </a:ext>
            </a:extLst>
          </p:cNvPr>
          <p:cNvSpPr>
            <a:spLocks noGrp="1"/>
          </p:cNvSpPr>
          <p:nvPr/>
        </p:nvSpPr>
        <p:spPr>
          <a:xfrm>
            <a:off x="2609850" y="5162550"/>
            <a:ext cx="1657350" cy="952500"/>
          </a:xfrm>
          <a:prstGeom prst="roundRect">
            <a:avLst>
              <a:gd name="adj" fmla="val 18000"/>
            </a:avLst>
          </a:prstGeom>
          <a:solidFill>
            <a:srgbClr val="1B2029"/>
          </a:solidFill>
          <a:ln w="9525">
            <a:solidFill>
              <a:srgbClr val="333B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EEC7D13-12B4-4158-A8CA-DE61BFC3D9F9}"/>
              </a:ext>
            </a:extLst>
          </p:cNvPr>
          <p:cNvSpPr>
            <a:spLocks noGrp="1"/>
          </p:cNvSpPr>
          <p:nvPr/>
        </p:nvSpPr>
        <p:spPr>
          <a:xfrm>
            <a:off x="2781300" y="5314950"/>
            <a:ext cx="1314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rPr>
              <a:t>835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DD0653-8F29-4654-87AA-A61DBA0CFBA6}"/>
              </a:ext>
            </a:extLst>
          </p:cNvPr>
          <p:cNvSpPr>
            <a:spLocks noGrp="1"/>
          </p:cNvSpPr>
          <p:nvPr/>
        </p:nvSpPr>
        <p:spPr>
          <a:xfrm>
            <a:off x="2762250" y="57340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ROI images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F5585226-B11A-4984-9E32-48EEC3C81BCE}"/>
              </a:ext>
            </a:extLst>
          </p:cNvPr>
          <p:cNvSpPr>
            <a:spLocks noGrp="1"/>
          </p:cNvSpPr>
          <p:nvPr/>
        </p:nvSpPr>
        <p:spPr>
          <a:xfrm>
            <a:off x="4495800" y="5162550"/>
            <a:ext cx="1657350" cy="952500"/>
          </a:xfrm>
          <a:prstGeom prst="roundRect">
            <a:avLst>
              <a:gd name="adj" fmla="val 18000"/>
            </a:avLst>
          </a:prstGeom>
          <a:solidFill>
            <a:srgbClr val="1B2029"/>
          </a:solidFill>
          <a:ln w="9525">
            <a:solidFill>
              <a:srgbClr val="333B4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0BC29E-F3E6-473E-BC5D-F0C45382E209}"/>
              </a:ext>
            </a:extLst>
          </p:cNvPr>
          <p:cNvSpPr>
            <a:spLocks noGrp="1"/>
          </p:cNvSpPr>
          <p:nvPr/>
        </p:nvSpPr>
        <p:spPr>
          <a:xfrm>
            <a:off x="4667250" y="5314950"/>
            <a:ext cx="1314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05D4DC-B89B-4DAE-8639-760060558D57}"/>
              </a:ext>
            </a:extLst>
          </p:cNvPr>
          <p:cNvSpPr>
            <a:spLocks noGrp="1"/>
          </p:cNvSpPr>
          <p:nvPr/>
        </p:nvSpPr>
        <p:spPr>
          <a:xfrm>
            <a:off x="4648200" y="57340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classes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213D5D5-0C5E-4D39-BB74-AD0ADEF99029}"/>
              </a:ext>
            </a:extLst>
          </p:cNvPr>
          <p:cNvSpPr>
            <a:spLocks noGrp="1"/>
          </p:cNvSpPr>
          <p:nvPr/>
        </p:nvSpPr>
        <p:spPr>
          <a:xfrm>
            <a:off x="8172450" y="10668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PIPELINE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1FD35495-F188-4F04-8AA2-12AC98C0631B}"/>
              </a:ext>
            </a:extLst>
          </p:cNvPr>
          <p:cNvSpPr>
            <a:spLocks noGrp="1"/>
          </p:cNvSpPr>
          <p:nvPr/>
        </p:nvSpPr>
        <p:spPr>
          <a:xfrm>
            <a:off x="8172450" y="1543050"/>
            <a:ext cx="2247900" cy="457200"/>
          </a:xfrm>
          <a:prstGeom prst="roundRect">
            <a:avLst>
              <a:gd name="adj" fmla="val 33333"/>
            </a:avLst>
          </a:prstGeom>
          <a:solidFill>
            <a:srgbClr val="18212D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C30978B-77E8-4BD1-A741-48F08B0E95A1}"/>
              </a:ext>
            </a:extLst>
          </p:cNvPr>
          <p:cNvSpPr>
            <a:spLocks noGrp="1"/>
          </p:cNvSpPr>
          <p:nvPr/>
        </p:nvSpPr>
        <p:spPr>
          <a:xfrm>
            <a:off x="8362950" y="166687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AA91A1B-6E1D-4C64-BDC2-4DA538A4CDF6}"/>
              </a:ext>
            </a:extLst>
          </p:cNvPr>
          <p:cNvSpPr>
            <a:spLocks noGrp="1"/>
          </p:cNvSpPr>
          <p:nvPr/>
        </p:nvSpPr>
        <p:spPr>
          <a:xfrm>
            <a:off x="8839200" y="16573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ROI capture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45C45813-C968-49E4-B570-3D21D7956D22}"/>
              </a:ext>
            </a:extLst>
          </p:cNvPr>
          <p:cNvSpPr>
            <a:spLocks noGrp="1"/>
          </p:cNvSpPr>
          <p:nvPr/>
        </p:nvSpPr>
        <p:spPr>
          <a:xfrm>
            <a:off x="8172450" y="2247900"/>
            <a:ext cx="2247900" cy="457200"/>
          </a:xfrm>
          <a:prstGeom prst="roundRect">
            <a:avLst>
              <a:gd name="adj" fmla="val 33333"/>
            </a:avLst>
          </a:prstGeom>
          <a:solidFill>
            <a:srgbClr val="18212D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D77FF93-4C5A-4F25-880D-7A4BBAE45299}"/>
              </a:ext>
            </a:extLst>
          </p:cNvPr>
          <p:cNvSpPr>
            <a:spLocks noGrp="1"/>
          </p:cNvSpPr>
          <p:nvPr/>
        </p:nvSpPr>
        <p:spPr>
          <a:xfrm>
            <a:off x="8362950" y="237172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6B3012B-5E3B-4B32-B99C-14B7A7752091}"/>
              </a:ext>
            </a:extLst>
          </p:cNvPr>
          <p:cNvSpPr>
            <a:spLocks noGrp="1"/>
          </p:cNvSpPr>
          <p:nvPr/>
        </p:nvSpPr>
        <p:spPr>
          <a:xfrm>
            <a:off x="8839200" y="23622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Preprocess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BD29786A-17B7-4CA0-875D-4579AC9B7187}"/>
              </a:ext>
            </a:extLst>
          </p:cNvPr>
          <p:cNvSpPr>
            <a:spLocks noGrp="1"/>
          </p:cNvSpPr>
          <p:nvPr/>
        </p:nvSpPr>
        <p:spPr>
          <a:xfrm>
            <a:off x="8172450" y="2952750"/>
            <a:ext cx="2247900" cy="457200"/>
          </a:xfrm>
          <a:prstGeom prst="roundRect">
            <a:avLst>
              <a:gd name="adj" fmla="val 33333"/>
            </a:avLst>
          </a:prstGeom>
          <a:solidFill>
            <a:srgbClr val="18212D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8AEBCA-ECC7-4F5F-ACB0-B0898BFA0EEB}"/>
              </a:ext>
            </a:extLst>
          </p:cNvPr>
          <p:cNvSpPr>
            <a:spLocks noGrp="1"/>
          </p:cNvSpPr>
          <p:nvPr/>
        </p:nvSpPr>
        <p:spPr>
          <a:xfrm>
            <a:off x="8362950" y="307657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4546DA8-BCA4-4C91-BBF2-C25575522795}"/>
              </a:ext>
            </a:extLst>
          </p:cNvPr>
          <p:cNvSpPr>
            <a:spLocks noGrp="1"/>
          </p:cNvSpPr>
          <p:nvPr/>
        </p:nvSpPr>
        <p:spPr>
          <a:xfrm>
            <a:off x="8839200" y="30670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CNN inference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5C235DD0-E12A-49B0-8137-DC6E6343502F}"/>
              </a:ext>
            </a:extLst>
          </p:cNvPr>
          <p:cNvSpPr>
            <a:spLocks noGrp="1"/>
          </p:cNvSpPr>
          <p:nvPr/>
        </p:nvSpPr>
        <p:spPr>
          <a:xfrm>
            <a:off x="8172450" y="3657600"/>
            <a:ext cx="2247900" cy="457200"/>
          </a:xfrm>
          <a:prstGeom prst="roundRect">
            <a:avLst>
              <a:gd name="adj" fmla="val 33333"/>
            </a:avLst>
          </a:prstGeom>
          <a:solidFill>
            <a:srgbClr val="18212D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D4AB4FE-B1AB-4D7C-96E1-1FD85C22743E}"/>
              </a:ext>
            </a:extLst>
          </p:cNvPr>
          <p:cNvSpPr>
            <a:spLocks noGrp="1"/>
          </p:cNvSpPr>
          <p:nvPr/>
        </p:nvSpPr>
        <p:spPr>
          <a:xfrm>
            <a:off x="8362950" y="378142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C746AA7-1F9E-46DF-B7D4-5949B299E876}"/>
              </a:ext>
            </a:extLst>
          </p:cNvPr>
          <p:cNvSpPr>
            <a:spLocks noGrp="1"/>
          </p:cNvSpPr>
          <p:nvPr/>
        </p:nvSpPr>
        <p:spPr>
          <a:xfrm>
            <a:off x="8839200" y="37719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Feedback loop</a:t>
            </a: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877730FA-7C42-414E-A5A3-4883347EFC76}"/>
              </a:ext>
            </a:extLst>
          </p:cNvPr>
          <p:cNvSpPr>
            <a:spLocks noGrp="1"/>
          </p:cNvSpPr>
          <p:nvPr/>
        </p:nvSpPr>
        <p:spPr>
          <a:xfrm>
            <a:off x="8172450" y="4667250"/>
            <a:ext cx="2247900" cy="19050"/>
          </a:xfrm>
          <a:prstGeom prst="roundRect">
            <a:avLst>
              <a:gd name="adj" fmla="val 50000"/>
            </a:avLst>
          </a:prstGeom>
          <a:solidFill>
            <a:srgbClr val="2D3848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DA81AB9-DE1E-4495-BA8A-C977B1CDD2D5}"/>
              </a:ext>
            </a:extLst>
          </p:cNvPr>
          <p:cNvSpPr>
            <a:spLocks noGrp="1"/>
          </p:cNvSpPr>
          <p:nvPr/>
        </p:nvSpPr>
        <p:spPr>
          <a:xfrm>
            <a:off x="8172450" y="49530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rPr>
              <a:t>CLASS SCOPE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F259D54-E479-422F-BE76-4EFFA0968A9A}"/>
              </a:ext>
            </a:extLst>
          </p:cNvPr>
          <p:cNvSpPr>
            <a:spLocks noGrp="1"/>
          </p:cNvSpPr>
          <p:nvPr/>
        </p:nvSpPr>
        <p:spPr>
          <a:xfrm>
            <a:off x="8172450" y="5219700"/>
            <a:ext cx="2628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open / fist / peace / unknown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F6C394F-BF11-47AF-8E0A-D271143EBD37}"/>
              </a:ext>
            </a:extLst>
          </p:cNvPr>
          <p:cNvSpPr>
            <a:spLocks noGrp="1"/>
          </p:cNvSpPr>
          <p:nvPr/>
        </p:nvSpPr>
        <p:spPr>
          <a:xfrm>
            <a:off x="8172450" y="553402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 dirty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OpenCV · TensorFlow/</a:t>
            </a:r>
            <a:r>
              <a:rPr sz="1200" b="0" dirty="0" err="1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Keras</a:t>
            </a:r>
            <a:r>
              <a:rPr sz="1200" b="0" dirty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 · CNN · Python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DA45ADC-8AD7-4AEE-B566-FD421B65D9A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Project04 Hand Gesture Classifier · 1/9</a:t>
            </a:r>
          </a:p>
        </p:txBody>
      </p:sp>
    </p:spTree>
    <p:extLst>
      <p:ext uri="{BB962C8B-B14F-4D97-AF65-F5344CB8AC3E}">
        <p14:creationId xmlns:p14="http://schemas.microsoft.com/office/powerpoint/2010/main" val="2040287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8F3584FE-B24C-4826-9E44-6327ACDFA9E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495300" cy="38100"/>
          </a:xfrm>
          <a:prstGeom prst="roundRect">
            <a:avLst>
              <a:gd name="adj" fmla="val 50000"/>
            </a:avLst>
          </a:prstGeom>
          <a:solidFill>
            <a:srgbClr val="3CE878"/>
          </a:solidFill>
          <a:ln w="9525">
            <a:solidFill>
              <a:srgbClr val="3CE8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9FF3931B-B390-4918-8243-6BC57D02C345}"/>
              </a:ext>
            </a:extLst>
          </p:cNvPr>
          <p:cNvSpPr>
            <a:spLocks noGrp="1"/>
          </p:cNvSpPr>
          <p:nvPr/>
        </p:nvSpPr>
        <p:spPr>
          <a:xfrm>
            <a:off x="1181100" y="704850"/>
            <a:ext cx="266700" cy="38100"/>
          </a:xfrm>
          <a:prstGeom prst="roundRect">
            <a:avLst>
              <a:gd name="adj" fmla="val 50000"/>
            </a:avLst>
          </a:prstGeom>
          <a:solidFill>
            <a:srgbClr val="5EC8D8"/>
          </a:solidFill>
          <a:ln w="9525">
            <a:solidFill>
              <a:srgbClr val="5EC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76F2D5-F48B-4075-9159-221D0BDACAA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PROJECT DEFINITION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B5DDBD9-31D4-4B10-8347-B6351825212B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9620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고정 ROI 안의 손 모양을 네 가지 상태로 분류합니다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94CB8C-6378-42B7-B58B-D2E42D8864C9}"/>
              </a:ext>
            </a:extLst>
          </p:cNvPr>
          <p:cNvSpPr>
            <a:spLocks noGrp="1"/>
          </p:cNvSpPr>
          <p:nvPr/>
        </p:nvSpPr>
        <p:spPr>
          <a:xfrm>
            <a:off x="10839450" y="400050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5000"/>
              </a:lnSpc>
              <a:buNone/>
              <a:def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AAA09D8-CE3B-4502-B002-1014915C8986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웹캠 전체 화면을 인식하는 문제가 아니라, 중앙 ROI를 잘라 같은 조건의 이미지 분류 문제로 바꾼 프로젝트입니다.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FA295A91-E213-4114-8764-87E19E40FD85}"/>
              </a:ext>
            </a:extLst>
          </p:cNvPr>
          <p:cNvSpPr>
            <a:spLocks noGrp="1"/>
          </p:cNvSpPr>
          <p:nvPr/>
        </p:nvSpPr>
        <p:spPr>
          <a:xfrm>
            <a:off x="704850" y="2781300"/>
            <a:ext cx="2171700" cy="1428750"/>
          </a:xfrm>
          <a:prstGeom prst="roundRect">
            <a:avLst>
              <a:gd name="adj" fmla="val 14667"/>
            </a:avLst>
          </a:prstGeom>
          <a:solidFill>
            <a:srgbClr val="19212D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D5E7417-C9CA-4F24-AF93-64CDFAC6212A}"/>
              </a:ext>
            </a:extLst>
          </p:cNvPr>
          <p:cNvSpPr>
            <a:spLocks noGrp="1"/>
          </p:cNvSpPr>
          <p:nvPr/>
        </p:nvSpPr>
        <p:spPr>
          <a:xfrm>
            <a:off x="895350" y="31051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webcam frame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2D3B54-25D0-433A-A7CE-5A872905193D}"/>
              </a:ext>
            </a:extLst>
          </p:cNvPr>
          <p:cNvSpPr>
            <a:spLocks noGrp="1"/>
          </p:cNvSpPr>
          <p:nvPr/>
        </p:nvSpPr>
        <p:spPr>
          <a:xfrm>
            <a:off x="895350" y="35623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실시간 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077BA80-8F4B-4373-A995-DB1299F870C9}"/>
              </a:ext>
            </a:extLst>
          </p:cNvPr>
          <p:cNvSpPr>
            <a:spLocks noGrp="1"/>
          </p:cNvSpPr>
          <p:nvPr/>
        </p:nvSpPr>
        <p:spPr>
          <a:xfrm>
            <a:off x="2952750" y="3238500"/>
            <a:ext cx="419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3150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2B6F16F4-57E6-4F45-80A3-234B1EF85F2D}"/>
              </a:ext>
            </a:extLst>
          </p:cNvPr>
          <p:cNvSpPr>
            <a:spLocks noGrp="1"/>
          </p:cNvSpPr>
          <p:nvPr/>
        </p:nvSpPr>
        <p:spPr>
          <a:xfrm>
            <a:off x="3467100" y="2781300"/>
            <a:ext cx="2171700" cy="1428750"/>
          </a:xfrm>
          <a:prstGeom prst="roundRect">
            <a:avLst>
              <a:gd name="adj" fmla="val 14667"/>
            </a:avLst>
          </a:prstGeom>
          <a:solidFill>
            <a:srgbClr val="19212D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C30A155-166D-4180-8DE5-7EDBF7357B6A}"/>
              </a:ext>
            </a:extLst>
          </p:cNvPr>
          <p:cNvSpPr>
            <a:spLocks noGrp="1"/>
          </p:cNvSpPr>
          <p:nvPr/>
        </p:nvSpPr>
        <p:spPr>
          <a:xfrm>
            <a:off x="3657600" y="31051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center ROI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007F76A-14AD-4CED-A00B-9411875DFC85}"/>
              </a:ext>
            </a:extLst>
          </p:cNvPr>
          <p:cNvSpPr>
            <a:spLocks noGrp="1"/>
          </p:cNvSpPr>
          <p:nvPr/>
        </p:nvSpPr>
        <p:spPr>
          <a:xfrm>
            <a:off x="3657600" y="35623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320px square crop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E09160-2504-4265-A63F-ABC366284F54}"/>
              </a:ext>
            </a:extLst>
          </p:cNvPr>
          <p:cNvSpPr>
            <a:spLocks noGrp="1"/>
          </p:cNvSpPr>
          <p:nvPr/>
        </p:nvSpPr>
        <p:spPr>
          <a:xfrm>
            <a:off x="5715000" y="3238500"/>
            <a:ext cx="419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3150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2EC000F8-8F68-4DA2-8745-91EED505B208}"/>
              </a:ext>
            </a:extLst>
          </p:cNvPr>
          <p:cNvSpPr>
            <a:spLocks noGrp="1"/>
          </p:cNvSpPr>
          <p:nvPr/>
        </p:nvSpPr>
        <p:spPr>
          <a:xfrm>
            <a:off x="6229350" y="2781300"/>
            <a:ext cx="2171700" cy="1428750"/>
          </a:xfrm>
          <a:prstGeom prst="roundRect">
            <a:avLst>
              <a:gd name="adj" fmla="val 14667"/>
            </a:avLst>
          </a:prstGeom>
          <a:solidFill>
            <a:srgbClr val="111821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04B3913-ECF0-49A1-89DE-23568B40BA6A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CNN model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6355A04-851F-4A82-A81A-917F1E4188C2}"/>
              </a:ext>
            </a:extLst>
          </p:cNvPr>
          <p:cNvSpPr>
            <a:spLocks noGrp="1"/>
          </p:cNvSpPr>
          <p:nvPr/>
        </p:nvSpPr>
        <p:spPr>
          <a:xfrm>
            <a:off x="6419850" y="35623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128 x 128 x 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7EB1576-C7E1-4C2E-A4D0-E6A05F9A796F}"/>
              </a:ext>
            </a:extLst>
          </p:cNvPr>
          <p:cNvSpPr>
            <a:spLocks noGrp="1"/>
          </p:cNvSpPr>
          <p:nvPr/>
        </p:nvSpPr>
        <p:spPr>
          <a:xfrm>
            <a:off x="8477250" y="3238500"/>
            <a:ext cx="419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3150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9759E62B-54AA-43E6-B3E0-28390E26A34E}"/>
              </a:ext>
            </a:extLst>
          </p:cNvPr>
          <p:cNvSpPr>
            <a:spLocks noGrp="1"/>
          </p:cNvSpPr>
          <p:nvPr/>
        </p:nvSpPr>
        <p:spPr>
          <a:xfrm>
            <a:off x="8991600" y="2781300"/>
            <a:ext cx="2171700" cy="1428750"/>
          </a:xfrm>
          <a:prstGeom prst="roundRect">
            <a:avLst>
              <a:gd name="adj" fmla="val 14667"/>
            </a:avLst>
          </a:prstGeom>
          <a:solidFill>
            <a:srgbClr val="19212D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6E258E3-F272-48DE-B91A-54CA0746A1E2}"/>
              </a:ext>
            </a:extLst>
          </p:cNvPr>
          <p:cNvSpPr>
            <a:spLocks noGrp="1"/>
          </p:cNvSpPr>
          <p:nvPr/>
        </p:nvSpPr>
        <p:spPr>
          <a:xfrm>
            <a:off x="9182100" y="31051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gesture label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38D3958-443A-4920-976C-545446B21291}"/>
              </a:ext>
            </a:extLst>
          </p:cNvPr>
          <p:cNvSpPr>
            <a:spLocks noGrp="1"/>
          </p:cNvSpPr>
          <p:nvPr/>
        </p:nvSpPr>
        <p:spPr>
          <a:xfrm>
            <a:off x="9182100" y="35623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2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open / fist / peace / unknown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361A7E82-5131-4313-83B9-4E3B1ABEEE21}"/>
              </a:ext>
            </a:extLst>
          </p:cNvPr>
          <p:cNvSpPr>
            <a:spLocks noGrp="1"/>
          </p:cNvSpPr>
          <p:nvPr/>
        </p:nvSpPr>
        <p:spPr>
          <a:xfrm>
            <a:off x="819150" y="4876800"/>
            <a:ext cx="9886950" cy="838200"/>
          </a:xfrm>
          <a:prstGeom prst="roundRect">
            <a:avLst>
              <a:gd name="adj" fmla="val 20455"/>
            </a:avLst>
          </a:prstGeom>
          <a:solidFill>
            <a:srgbClr val="111821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E4723CF6-0AF1-4579-B9F3-9960FF26D597}"/>
              </a:ext>
            </a:extLst>
          </p:cNvPr>
          <p:cNvSpPr>
            <a:spLocks noGrp="1"/>
          </p:cNvSpPr>
          <p:nvPr/>
        </p:nvSpPr>
        <p:spPr>
          <a:xfrm>
            <a:off x="819150" y="4876800"/>
            <a:ext cx="76200" cy="838200"/>
          </a:xfrm>
          <a:prstGeom prst="roundRect">
            <a:avLst>
              <a:gd name="adj" fmla="val 50000"/>
            </a:avLst>
          </a:prstGeom>
          <a:solidFill>
            <a:srgbClr val="3CE878"/>
          </a:solidFill>
          <a:ln w="9525">
            <a:solidFill>
              <a:srgbClr val="3CE8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9EAD2BB-FB96-4BE7-AA72-A91E905CCBC2}"/>
              </a:ext>
            </a:extLst>
          </p:cNvPr>
          <p:cNvSpPr>
            <a:spLocks noGrp="1"/>
          </p:cNvSpPr>
          <p:nvPr/>
        </p:nvSpPr>
        <p:spPr>
          <a:xfrm>
            <a:off x="1066800" y="5143500"/>
            <a:ext cx="133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핵심 범위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DA44F0D-2E71-4F71-8FB0-C2BE1A5C7291}"/>
              </a:ext>
            </a:extLst>
          </p:cNvPr>
          <p:cNvSpPr>
            <a:spLocks noGrp="1"/>
          </p:cNvSpPr>
          <p:nvPr/>
        </p:nvSpPr>
        <p:spPr>
          <a:xfrm>
            <a:off x="2457450" y="5029200"/>
            <a:ext cx="7620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6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unknown 클래스를 별도로 두어 지원하지 않는 손동작이나 애매한 프레임을</a:t>
            </a:r>
          </a:p>
          <a:p>
            <a:pPr algn="l">
              <a:lnSpc>
                <a:spcPct val="116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세 가지 제스처 중 하나로 억지 분류하지 않게 했습니다.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1F08BD5-96B5-4DED-8AF4-915EE2973CA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Project04 Hand Gesture Classifier · 2/9</a:t>
            </a:r>
          </a:p>
        </p:txBody>
      </p:sp>
    </p:spTree>
    <p:extLst>
      <p:ext uri="{BB962C8B-B14F-4D97-AF65-F5344CB8AC3E}">
        <p14:creationId xmlns:p14="http://schemas.microsoft.com/office/powerpoint/2010/main" val="1442610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55EFD412-FC7E-4D01-A9F4-09559EF1F4E4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495300" cy="38100"/>
          </a:xfrm>
          <a:prstGeom prst="roundRect">
            <a:avLst>
              <a:gd name="adj" fmla="val 50000"/>
            </a:avLst>
          </a:prstGeom>
          <a:solidFill>
            <a:srgbClr val="3CE878"/>
          </a:solidFill>
          <a:ln w="9525">
            <a:solidFill>
              <a:srgbClr val="3CE8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6B78DDA3-5A0C-4208-93A3-BBA4FE1AF6E5}"/>
              </a:ext>
            </a:extLst>
          </p:cNvPr>
          <p:cNvSpPr>
            <a:spLocks noGrp="1"/>
          </p:cNvSpPr>
          <p:nvPr/>
        </p:nvSpPr>
        <p:spPr>
          <a:xfrm>
            <a:off x="1181100" y="704850"/>
            <a:ext cx="266700" cy="38100"/>
          </a:xfrm>
          <a:prstGeom prst="roundRect">
            <a:avLst>
              <a:gd name="adj" fmla="val 50000"/>
            </a:avLst>
          </a:prstGeom>
          <a:solidFill>
            <a:srgbClr val="5EC8D8"/>
          </a:solidFill>
          <a:ln w="9525">
            <a:solidFill>
              <a:srgbClr val="5EC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3D26BC-085D-424A-8691-EC90059C2FE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TECHNOLOGY STACK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9488E4-F5D4-4476-990A-49235ED6A54E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9620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OpenCV로 입력을 만들고 Keras CNN으로 분류했습니다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8455DB-9459-4B58-AE7C-6CB3445755DC}"/>
              </a:ext>
            </a:extLst>
          </p:cNvPr>
          <p:cNvSpPr>
            <a:spLocks noGrp="1"/>
          </p:cNvSpPr>
          <p:nvPr/>
        </p:nvSpPr>
        <p:spPr>
          <a:xfrm>
            <a:off x="10839450" y="400050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5000"/>
              </a:lnSpc>
              <a:buNone/>
              <a:def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C33C0AD6-3C7E-49B5-87A1-34B6338340ED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2343150" cy="2381250"/>
          </a:xfrm>
          <a:prstGeom prst="roundRect">
            <a:avLst>
              <a:gd name="adj" fmla="val 9756"/>
            </a:avLst>
          </a:prstGeom>
          <a:solidFill>
            <a:srgbClr val="19212D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2D94DD-A1DE-49E7-8429-5CD2069E19D7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OpenCV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E97434-6ABA-4382-9558-2DE47A779A1C}"/>
              </a:ext>
            </a:extLst>
          </p:cNvPr>
          <p:cNvSpPr>
            <a:spLocks noGrp="1"/>
          </p:cNvSpPr>
          <p:nvPr/>
        </p:nvSpPr>
        <p:spPr>
          <a:xfrm>
            <a:off x="971550" y="3238500"/>
            <a:ext cx="1809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webcam capture</a:t>
            </a:r>
          </a:p>
          <a:p>
            <a:pPr algn="ctr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ROI crop</a:t>
            </a:r>
          </a:p>
          <a:p>
            <a:pPr algn="ctr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BGR frame handling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3F34BD7-29C4-4738-99D6-22F14B2F7471}"/>
              </a:ext>
            </a:extLst>
          </p:cNvPr>
          <p:cNvSpPr>
            <a:spLocks noGrp="1"/>
          </p:cNvSpPr>
          <p:nvPr/>
        </p:nvSpPr>
        <p:spPr>
          <a:xfrm>
            <a:off x="1447800" y="1752600"/>
            <a:ext cx="857250" cy="95250"/>
          </a:xfrm>
          <a:prstGeom prst="roundRect">
            <a:avLst>
              <a:gd name="adj" fmla="val 50000"/>
            </a:avLst>
          </a:prstGeom>
          <a:solidFill>
            <a:srgbClr val="ED6A5A"/>
          </a:solidFill>
          <a:ln w="9525">
            <a:solidFill>
              <a:srgbClr val="ED6A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8C73A614-06AF-4FBF-9E6E-4FCBFE1E6213}"/>
              </a:ext>
            </a:extLst>
          </p:cNvPr>
          <p:cNvSpPr>
            <a:spLocks noGrp="1"/>
          </p:cNvSpPr>
          <p:nvPr/>
        </p:nvSpPr>
        <p:spPr>
          <a:xfrm>
            <a:off x="3486150" y="2247900"/>
            <a:ext cx="2343150" cy="2381250"/>
          </a:xfrm>
          <a:prstGeom prst="roundRect">
            <a:avLst>
              <a:gd name="adj" fmla="val 9756"/>
            </a:avLst>
          </a:prstGeom>
          <a:solidFill>
            <a:srgbClr val="111821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DF0CAF1-4727-48CE-B90F-AAF4EF77391E}"/>
              </a:ext>
            </a:extLst>
          </p:cNvPr>
          <p:cNvSpPr>
            <a:spLocks noGrp="1"/>
          </p:cNvSpPr>
          <p:nvPr/>
        </p:nvSpPr>
        <p:spPr>
          <a:xfrm>
            <a:off x="3714750" y="2609850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Keras CNN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3A0C20-803B-40BE-A07C-568A972ACF31}"/>
              </a:ext>
            </a:extLst>
          </p:cNvPr>
          <p:cNvSpPr>
            <a:spLocks noGrp="1"/>
          </p:cNvSpPr>
          <p:nvPr/>
        </p:nvSpPr>
        <p:spPr>
          <a:xfrm>
            <a:off x="3752850" y="3238500"/>
            <a:ext cx="1809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4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TensorFlow training</a:t>
            </a:r>
          </a:p>
          <a:p>
            <a:pPr algn="ctr">
              <a:lnSpc>
                <a:spcPct val="105000"/>
              </a:lnSpc>
              <a:buNone/>
              <a:defRPr sz="14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augmentation</a:t>
            </a:r>
          </a:p>
          <a:p>
            <a:pPr algn="ctr">
              <a:lnSpc>
                <a:spcPct val="105000"/>
              </a:lnSpc>
              <a:buNone/>
              <a:defRPr sz="14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model checkpoint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CB7B6A7-50D5-41F1-854B-5BC19DE16E8E}"/>
              </a:ext>
            </a:extLst>
          </p:cNvPr>
          <p:cNvSpPr>
            <a:spLocks noGrp="1"/>
          </p:cNvSpPr>
          <p:nvPr/>
        </p:nvSpPr>
        <p:spPr>
          <a:xfrm>
            <a:off x="4229100" y="1752600"/>
            <a:ext cx="857250" cy="95250"/>
          </a:xfrm>
          <a:prstGeom prst="roundRect">
            <a:avLst>
              <a:gd name="adj" fmla="val 50000"/>
            </a:avLst>
          </a:prstGeom>
          <a:solidFill>
            <a:srgbClr val="3CE878"/>
          </a:solidFill>
          <a:ln w="9525">
            <a:solidFill>
              <a:srgbClr val="3CE8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472838FF-E4FB-41D1-86E1-E0B0E92D3A35}"/>
              </a:ext>
            </a:extLst>
          </p:cNvPr>
          <p:cNvSpPr>
            <a:spLocks noGrp="1"/>
          </p:cNvSpPr>
          <p:nvPr/>
        </p:nvSpPr>
        <p:spPr>
          <a:xfrm>
            <a:off x="6267450" y="2247900"/>
            <a:ext cx="2343150" cy="2381250"/>
          </a:xfrm>
          <a:prstGeom prst="roundRect">
            <a:avLst>
              <a:gd name="adj" fmla="val 9756"/>
            </a:avLst>
          </a:prstGeom>
          <a:solidFill>
            <a:srgbClr val="19212D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C2789E7-AB30-40D4-9AEC-C3D4DACA1D36}"/>
              </a:ext>
            </a:extLst>
          </p:cNvPr>
          <p:cNvSpPr>
            <a:spLocks noGrp="1"/>
          </p:cNvSpPr>
          <p:nvPr/>
        </p:nvSpPr>
        <p:spPr>
          <a:xfrm>
            <a:off x="6496050" y="2609850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Python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27EEC50-564D-4ABE-83CA-9B27A6BFF08F}"/>
              </a:ext>
            </a:extLst>
          </p:cNvPr>
          <p:cNvSpPr>
            <a:spLocks noGrp="1"/>
          </p:cNvSpPr>
          <p:nvPr/>
        </p:nvSpPr>
        <p:spPr>
          <a:xfrm>
            <a:off x="6534150" y="3238500"/>
            <a:ext cx="1809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collector</a:t>
            </a:r>
          </a:p>
          <a:p>
            <a:pPr algn="ctr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trainer</a:t>
            </a:r>
          </a:p>
          <a:p>
            <a:pPr algn="ctr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webcam runner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E0EAC322-D018-4C1A-8580-A97407C5BC1C}"/>
              </a:ext>
            </a:extLst>
          </p:cNvPr>
          <p:cNvSpPr>
            <a:spLocks noGrp="1"/>
          </p:cNvSpPr>
          <p:nvPr/>
        </p:nvSpPr>
        <p:spPr>
          <a:xfrm>
            <a:off x="7010400" y="1752600"/>
            <a:ext cx="857250" cy="95250"/>
          </a:xfrm>
          <a:prstGeom prst="roundRect">
            <a:avLst>
              <a:gd name="adj" fmla="val 50000"/>
            </a:avLst>
          </a:prstGeom>
          <a:solidFill>
            <a:srgbClr val="5EC8D8"/>
          </a:solidFill>
          <a:ln w="9525">
            <a:solidFill>
              <a:srgbClr val="5EC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1A60BEE6-8167-4225-867B-4A31BF1C86CD}"/>
              </a:ext>
            </a:extLst>
          </p:cNvPr>
          <p:cNvSpPr>
            <a:spLocks noGrp="1"/>
          </p:cNvSpPr>
          <p:nvPr/>
        </p:nvSpPr>
        <p:spPr>
          <a:xfrm>
            <a:off x="9048750" y="2247900"/>
            <a:ext cx="2343150" cy="2381250"/>
          </a:xfrm>
          <a:prstGeom prst="roundRect">
            <a:avLst>
              <a:gd name="adj" fmla="val 9756"/>
            </a:avLst>
          </a:prstGeom>
          <a:solidFill>
            <a:srgbClr val="19212D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8006700-8A40-42C1-B8D3-5CAF382421C3}"/>
              </a:ext>
            </a:extLst>
          </p:cNvPr>
          <p:cNvSpPr>
            <a:spLocks noGrp="1"/>
          </p:cNvSpPr>
          <p:nvPr/>
        </p:nvSpPr>
        <p:spPr>
          <a:xfrm>
            <a:off x="9277350" y="2609850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Project tests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B7D6BE9-435E-4C5C-9AA5-50BF9A97A288}"/>
              </a:ext>
            </a:extLst>
          </p:cNvPr>
          <p:cNvSpPr>
            <a:spLocks noGrp="1"/>
          </p:cNvSpPr>
          <p:nvPr/>
        </p:nvSpPr>
        <p:spPr>
          <a:xfrm>
            <a:off x="9315450" y="3238500"/>
            <a:ext cx="1809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class mapping</a:t>
            </a:r>
          </a:p>
          <a:p>
            <a:pPr algn="ctr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preprocessing</a:t>
            </a:r>
          </a:p>
          <a:p>
            <a:pPr algn="ctr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ROI behavior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1606F815-2B7E-485F-8B36-BFF4E5FE55BB}"/>
              </a:ext>
            </a:extLst>
          </p:cNvPr>
          <p:cNvSpPr>
            <a:spLocks noGrp="1"/>
          </p:cNvSpPr>
          <p:nvPr/>
        </p:nvSpPr>
        <p:spPr>
          <a:xfrm>
            <a:off x="9791700" y="1752600"/>
            <a:ext cx="857250" cy="95250"/>
          </a:xfrm>
          <a:prstGeom prst="roundRect">
            <a:avLst>
              <a:gd name="adj" fmla="val 50000"/>
            </a:avLst>
          </a:prstGeom>
          <a:solidFill>
            <a:srgbClr val="F5B642"/>
          </a:solidFill>
          <a:ln w="9525">
            <a:solidFill>
              <a:srgbClr val="F5B6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1EC7CA4-9222-467B-ABDF-90F9CB4C171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Project04 Hand Gesture Classifier · 3/9</a:t>
            </a:r>
          </a:p>
        </p:txBody>
      </p:sp>
    </p:spTree>
    <p:extLst>
      <p:ext uri="{BB962C8B-B14F-4D97-AF65-F5344CB8AC3E}">
        <p14:creationId xmlns:p14="http://schemas.microsoft.com/office/powerpoint/2010/main" val="744221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2D820BC5-01E9-40BF-B486-A32E964C37C6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495300" cy="38100"/>
          </a:xfrm>
          <a:prstGeom prst="roundRect">
            <a:avLst>
              <a:gd name="adj" fmla="val 50000"/>
            </a:avLst>
          </a:prstGeom>
          <a:solidFill>
            <a:srgbClr val="3CE878"/>
          </a:solidFill>
          <a:ln w="9525">
            <a:solidFill>
              <a:srgbClr val="3CE8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DDB8AF28-072B-40CE-8DED-726F7953A94C}"/>
              </a:ext>
            </a:extLst>
          </p:cNvPr>
          <p:cNvSpPr>
            <a:spLocks noGrp="1"/>
          </p:cNvSpPr>
          <p:nvPr/>
        </p:nvSpPr>
        <p:spPr>
          <a:xfrm>
            <a:off x="1181100" y="704850"/>
            <a:ext cx="266700" cy="38100"/>
          </a:xfrm>
          <a:prstGeom prst="roundRect">
            <a:avLst>
              <a:gd name="adj" fmla="val 50000"/>
            </a:avLst>
          </a:prstGeom>
          <a:solidFill>
            <a:srgbClr val="5EC8D8"/>
          </a:solidFill>
          <a:ln w="9525">
            <a:solidFill>
              <a:srgbClr val="5EC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6A6E60C-0618-4E24-955E-E6964FEC3A2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TRAINING IMAGES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09FB38-77BE-4F59-9E96-FBCB19645FE2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9620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실제 학습 이미지는 네 클래스 폴더로 직접 수집했습니다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6E20FB-ADBB-4BBE-AE18-83F6BB3643C8}"/>
              </a:ext>
            </a:extLst>
          </p:cNvPr>
          <p:cNvSpPr>
            <a:spLocks noGrp="1"/>
          </p:cNvSpPr>
          <p:nvPr/>
        </p:nvSpPr>
        <p:spPr>
          <a:xfrm>
            <a:off x="10839450" y="400050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5000"/>
              </a:lnSpc>
              <a:buNone/>
              <a:def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016B59-93D1-446D-AF2D-FAD3918724AF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open_hand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3E72DE51-2148-4A75-B7FE-F3661BD1D238}"/>
              </a:ext>
            </a:extLst>
          </p:cNvPr>
          <p:cNvSpPr>
            <a:spLocks noGrp="1"/>
          </p:cNvSpPr>
          <p:nvPr/>
        </p:nvSpPr>
        <p:spPr>
          <a:xfrm>
            <a:off x="2152650" y="213360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3CE87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5045B1-29D1-47F9-8109-D87267E070AD}"/>
              </a:ext>
            </a:extLst>
          </p:cNvPr>
          <p:cNvSpPr>
            <a:spLocks noGrp="1"/>
          </p:cNvSpPr>
          <p:nvPr/>
        </p:nvSpPr>
        <p:spPr>
          <a:xfrm>
            <a:off x="2266950" y="2211324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176 imgs</a:t>
            </a:r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14750" y="1905000"/>
            <a:ext cx="895350" cy="895350"/>
          </a:xfrm>
          <a:prstGeom prst="roundRect">
            <a:avLst>
              <a:gd name="adj" fmla="val 17021"/>
            </a:avLst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72050" y="1905000"/>
            <a:ext cx="895350" cy="895350"/>
          </a:xfrm>
          <a:prstGeom prst="roundRect">
            <a:avLst>
              <a:gd name="adj" fmla="val 17021"/>
            </a:avLst>
          </a:prstGeom>
        </p:spPr>
      </p:pic>
      <p:pic>
        <p:nvPicPr>
          <p:cNvPr id="51" name="그림 5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229350" y="1905000"/>
            <a:ext cx="895350" cy="895350"/>
          </a:xfrm>
          <a:prstGeom prst="roundRect">
            <a:avLst>
              <a:gd name="adj" fmla="val 17021"/>
            </a:avLst>
          </a:prstGeom>
        </p:spPr>
      </p:pic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4A7EE1C5-1F5E-416E-8A85-5AE73134E94A}"/>
              </a:ext>
            </a:extLst>
          </p:cNvPr>
          <p:cNvSpPr>
            <a:spLocks noGrp="1"/>
          </p:cNvSpPr>
          <p:nvPr/>
        </p:nvSpPr>
        <p:spPr>
          <a:xfrm>
            <a:off x="7810500" y="2305050"/>
            <a:ext cx="1927860" cy="133350"/>
          </a:xfrm>
          <a:prstGeom prst="roundRect">
            <a:avLst>
              <a:gd name="adj" fmla="val 50000"/>
            </a:avLst>
          </a:prstGeom>
          <a:solidFill>
            <a:srgbClr val="3CE878"/>
          </a:solidFill>
          <a:ln w="9525">
            <a:solidFill>
              <a:srgbClr val="3CE8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3C099ACB-66E3-48AF-816A-05F7B3216255}"/>
              </a:ext>
            </a:extLst>
          </p:cNvPr>
          <p:cNvSpPr>
            <a:spLocks noGrp="1"/>
          </p:cNvSpPr>
          <p:nvPr/>
        </p:nvSpPr>
        <p:spPr>
          <a:xfrm>
            <a:off x="9776460" y="2305050"/>
            <a:ext cx="1072515" cy="133350"/>
          </a:xfrm>
          <a:prstGeom prst="roundRect">
            <a:avLst>
              <a:gd name="adj" fmla="val 50000"/>
            </a:avLst>
          </a:prstGeom>
          <a:solidFill>
            <a:srgbClr val="E5DED1"/>
          </a:solidFill>
          <a:ln w="9525">
            <a:solidFill>
              <a:srgbClr val="E5DED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E594D35-275D-4838-BCF7-0EF5E6CC7735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fist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1BE62442-E678-4DEE-A810-11343939274E}"/>
              </a:ext>
            </a:extLst>
          </p:cNvPr>
          <p:cNvSpPr>
            <a:spLocks noGrp="1"/>
          </p:cNvSpPr>
          <p:nvPr/>
        </p:nvSpPr>
        <p:spPr>
          <a:xfrm>
            <a:off x="2152650" y="310515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5EC8D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D9E30-DDDC-4C97-8788-0D870C0E1FD7}"/>
              </a:ext>
            </a:extLst>
          </p:cNvPr>
          <p:cNvSpPr>
            <a:spLocks noGrp="1"/>
          </p:cNvSpPr>
          <p:nvPr/>
        </p:nvSpPr>
        <p:spPr>
          <a:xfrm>
            <a:off x="2266950" y="3182874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257 imgs</a:t>
            </a:r>
          </a:p>
        </p:txBody>
      </p:sp>
      <p:pic>
        <p:nvPicPr>
          <p:cNvPr id="57" name="그림 5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714750" y="2876550"/>
            <a:ext cx="895350" cy="895350"/>
          </a:xfrm>
          <a:prstGeom prst="roundRect">
            <a:avLst>
              <a:gd name="adj" fmla="val 17021"/>
            </a:avLst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972050" y="2876550"/>
            <a:ext cx="895350" cy="895350"/>
          </a:xfrm>
          <a:prstGeom prst="roundRect">
            <a:avLst>
              <a:gd name="adj" fmla="val 17021"/>
            </a:avLst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229350" y="2876550"/>
            <a:ext cx="895350" cy="895350"/>
          </a:xfrm>
          <a:prstGeom prst="roundRect">
            <a:avLst>
              <a:gd name="adj" fmla="val 17021"/>
            </a:avLst>
          </a:prstGeom>
        </p:spPr>
      </p:pic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A019704A-28B6-44E7-84C1-CD015673405A}"/>
              </a:ext>
            </a:extLst>
          </p:cNvPr>
          <p:cNvSpPr>
            <a:spLocks noGrp="1"/>
          </p:cNvSpPr>
          <p:nvPr/>
        </p:nvSpPr>
        <p:spPr>
          <a:xfrm>
            <a:off x="7810500" y="3276600"/>
            <a:ext cx="2815114" cy="133350"/>
          </a:xfrm>
          <a:prstGeom prst="roundRect">
            <a:avLst>
              <a:gd name="adj" fmla="val 50000"/>
            </a:avLst>
          </a:prstGeom>
          <a:solidFill>
            <a:srgbClr val="5EC8D8"/>
          </a:solidFill>
          <a:ln w="9525">
            <a:solidFill>
              <a:srgbClr val="5EC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F9B404A0-91BE-41B2-9378-14D68CEFB30C}"/>
              </a:ext>
            </a:extLst>
          </p:cNvPr>
          <p:cNvSpPr>
            <a:spLocks noGrp="1"/>
          </p:cNvSpPr>
          <p:nvPr/>
        </p:nvSpPr>
        <p:spPr>
          <a:xfrm>
            <a:off x="10663714" y="3276600"/>
            <a:ext cx="185261" cy="133350"/>
          </a:xfrm>
          <a:prstGeom prst="roundRect">
            <a:avLst>
              <a:gd name="adj" fmla="val 50000"/>
            </a:avLst>
          </a:prstGeom>
          <a:solidFill>
            <a:srgbClr val="E5DED1"/>
          </a:solidFill>
          <a:ln w="9525">
            <a:solidFill>
              <a:srgbClr val="E5DED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2B4A553-5637-44C0-AEFE-85855FF597A1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peace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6F830295-B9E4-458F-9737-0AE1CC96A8B5}"/>
              </a:ext>
            </a:extLst>
          </p:cNvPr>
          <p:cNvSpPr>
            <a:spLocks noGrp="1"/>
          </p:cNvSpPr>
          <p:nvPr/>
        </p:nvSpPr>
        <p:spPr>
          <a:xfrm>
            <a:off x="2152650" y="407670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F5B642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DA17671-AE2B-4427-AC2C-BF623A928E7F}"/>
              </a:ext>
            </a:extLst>
          </p:cNvPr>
          <p:cNvSpPr>
            <a:spLocks noGrp="1"/>
          </p:cNvSpPr>
          <p:nvPr/>
        </p:nvSpPr>
        <p:spPr>
          <a:xfrm>
            <a:off x="2266950" y="4154424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247 imgs</a:t>
            </a:r>
          </a:p>
        </p:txBody>
      </p:sp>
      <p:pic>
        <p:nvPicPr>
          <p:cNvPr id="65" name="그림 64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3714750" y="3848100"/>
            <a:ext cx="895350" cy="895350"/>
          </a:xfrm>
          <a:prstGeom prst="roundRect">
            <a:avLst>
              <a:gd name="adj" fmla="val 17021"/>
            </a:avLst>
          </a:prstGeom>
        </p:spPr>
      </p:pic>
      <p:pic>
        <p:nvPicPr>
          <p:cNvPr id="66" name="그림 65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4972050" y="3848100"/>
            <a:ext cx="895350" cy="895350"/>
          </a:xfrm>
          <a:prstGeom prst="roundRect">
            <a:avLst>
              <a:gd name="adj" fmla="val 17021"/>
            </a:avLst>
          </a:prstGeom>
        </p:spPr>
      </p:pic>
      <p:pic>
        <p:nvPicPr>
          <p:cNvPr id="67" name="그림 66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6229350" y="3848100"/>
            <a:ext cx="895350" cy="895350"/>
          </a:xfrm>
          <a:prstGeom prst="roundRect">
            <a:avLst>
              <a:gd name="adj" fmla="val 17021"/>
            </a:avLst>
          </a:prstGeom>
        </p:spPr>
      </p:pic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C510FEC4-71F6-4929-975B-F452F052F458}"/>
              </a:ext>
            </a:extLst>
          </p:cNvPr>
          <p:cNvSpPr>
            <a:spLocks noGrp="1"/>
          </p:cNvSpPr>
          <p:nvPr/>
        </p:nvSpPr>
        <p:spPr>
          <a:xfrm>
            <a:off x="7810500" y="4248150"/>
            <a:ext cx="2705576" cy="133350"/>
          </a:xfrm>
          <a:prstGeom prst="roundRect">
            <a:avLst>
              <a:gd name="adj" fmla="val 50000"/>
            </a:avLst>
          </a:prstGeom>
          <a:solidFill>
            <a:srgbClr val="F5B642"/>
          </a:solidFill>
          <a:ln w="9525">
            <a:solidFill>
              <a:srgbClr val="F5B6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EE8A61E2-0C72-4ACC-B84F-853E3D9A0C7B}"/>
              </a:ext>
            </a:extLst>
          </p:cNvPr>
          <p:cNvSpPr>
            <a:spLocks noGrp="1"/>
          </p:cNvSpPr>
          <p:nvPr/>
        </p:nvSpPr>
        <p:spPr>
          <a:xfrm>
            <a:off x="10554176" y="4248150"/>
            <a:ext cx="294799" cy="133350"/>
          </a:xfrm>
          <a:prstGeom prst="roundRect">
            <a:avLst>
              <a:gd name="adj" fmla="val 50000"/>
            </a:avLst>
          </a:prstGeom>
          <a:solidFill>
            <a:srgbClr val="E5DED1"/>
          </a:solidFill>
          <a:ln w="9525">
            <a:solidFill>
              <a:srgbClr val="E5DED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0A61D06-3A3A-4939-9510-37855608A99A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unknown</a:t>
            </a: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16DB99C4-1DAD-4517-8CBB-8279CAB63F7D}"/>
              </a:ext>
            </a:extLst>
          </p:cNvPr>
          <p:cNvSpPr>
            <a:spLocks noGrp="1"/>
          </p:cNvSpPr>
          <p:nvPr/>
        </p:nvSpPr>
        <p:spPr>
          <a:xfrm>
            <a:off x="2152650" y="504825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ED6A5A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99AF3DF-0482-48BF-9AFA-35607081B2DF}"/>
              </a:ext>
            </a:extLst>
          </p:cNvPr>
          <p:cNvSpPr>
            <a:spLocks noGrp="1"/>
          </p:cNvSpPr>
          <p:nvPr/>
        </p:nvSpPr>
        <p:spPr>
          <a:xfrm>
            <a:off x="2266950" y="5125974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155 imgs</a:t>
            </a:r>
          </a:p>
        </p:txBody>
      </p:sp>
      <p:pic>
        <p:nvPicPr>
          <p:cNvPr id="73" name="그림 72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3714750" y="4819650"/>
            <a:ext cx="895350" cy="895350"/>
          </a:xfrm>
          <a:prstGeom prst="roundRect">
            <a:avLst>
              <a:gd name="adj" fmla="val 17021"/>
            </a:avLst>
          </a:prstGeom>
        </p:spPr>
      </p:pic>
      <p:pic>
        <p:nvPicPr>
          <p:cNvPr id="74" name="그림 73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4972050" y="4819650"/>
            <a:ext cx="895350" cy="895350"/>
          </a:xfrm>
          <a:prstGeom prst="roundRect">
            <a:avLst>
              <a:gd name="adj" fmla="val 17021"/>
            </a:avLst>
          </a:prstGeom>
        </p:spPr>
      </p:pic>
      <p:pic>
        <p:nvPicPr>
          <p:cNvPr id="75" name="그림 74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6229350" y="4819650"/>
            <a:ext cx="895350" cy="895350"/>
          </a:xfrm>
          <a:prstGeom prst="roundRect">
            <a:avLst>
              <a:gd name="adj" fmla="val 17021"/>
            </a:avLst>
          </a:prstGeom>
        </p:spPr>
      </p:pic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F426BAF2-2FA3-4C78-8CDC-9B6B481D8A3E}"/>
              </a:ext>
            </a:extLst>
          </p:cNvPr>
          <p:cNvSpPr>
            <a:spLocks noGrp="1"/>
          </p:cNvSpPr>
          <p:nvPr/>
        </p:nvSpPr>
        <p:spPr>
          <a:xfrm>
            <a:off x="7810500" y="5219700"/>
            <a:ext cx="1697831" cy="133350"/>
          </a:xfrm>
          <a:prstGeom prst="roundRect">
            <a:avLst>
              <a:gd name="adj" fmla="val 50000"/>
            </a:avLst>
          </a:prstGeom>
          <a:solidFill>
            <a:srgbClr val="ED6A5A"/>
          </a:solidFill>
          <a:ln w="9525">
            <a:solidFill>
              <a:srgbClr val="ED6A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B9A2FA67-6317-41A1-A9DF-FE7E649096CB}"/>
              </a:ext>
            </a:extLst>
          </p:cNvPr>
          <p:cNvSpPr>
            <a:spLocks noGrp="1"/>
          </p:cNvSpPr>
          <p:nvPr/>
        </p:nvSpPr>
        <p:spPr>
          <a:xfrm>
            <a:off x="9546431" y="5219700"/>
            <a:ext cx="1302544" cy="133350"/>
          </a:xfrm>
          <a:prstGeom prst="roundRect">
            <a:avLst>
              <a:gd name="adj" fmla="val 50000"/>
            </a:avLst>
          </a:prstGeom>
          <a:solidFill>
            <a:srgbClr val="E5DED1"/>
          </a:solidFill>
          <a:ln w="9525">
            <a:solidFill>
              <a:srgbClr val="E5DED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3327E2D-06A6-495D-969A-3D5069FD1356}"/>
              </a:ext>
            </a:extLst>
          </p:cNvPr>
          <p:cNvSpPr>
            <a:spLocks noGrp="1"/>
          </p:cNvSpPr>
          <p:nvPr/>
        </p:nvSpPr>
        <p:spPr>
          <a:xfrm>
            <a:off x="8286750" y="1390650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5000"/>
              </a:lnSpc>
              <a:buNone/>
              <a:defRPr sz="25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총 835장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8C0B4E4-3B11-4A6E-9A8F-D8FD11A9859A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폴더 라벨을 기준으로 정리하고 파일명 prefix를 클래스명과 맞춰 리뷰 가능하게 만들었습니다.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C12A4F0-C9B7-4990-9AF2-6DAFE445949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Project04 Hand Gesture Classifier · 4/9</a:t>
            </a:r>
          </a:p>
        </p:txBody>
      </p:sp>
    </p:spTree>
    <p:extLst>
      <p:ext uri="{BB962C8B-B14F-4D97-AF65-F5344CB8AC3E}">
        <p14:creationId xmlns:p14="http://schemas.microsoft.com/office/powerpoint/2010/main" val="1079127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87E6EB97-4FE2-463A-90AD-D3ECFC5BA4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D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89BB098C-CEDB-459B-AB91-488CD8F4519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495300" cy="38100"/>
          </a:xfrm>
          <a:prstGeom prst="roundRect">
            <a:avLst>
              <a:gd name="adj" fmla="val 50000"/>
            </a:avLst>
          </a:prstGeom>
          <a:solidFill>
            <a:srgbClr val="3CE878"/>
          </a:solidFill>
          <a:ln w="9525">
            <a:solidFill>
              <a:srgbClr val="3CE8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DB9AAA95-6BD2-443A-8DEA-902009B8C4B7}"/>
              </a:ext>
            </a:extLst>
          </p:cNvPr>
          <p:cNvSpPr>
            <a:spLocks noGrp="1"/>
          </p:cNvSpPr>
          <p:nvPr/>
        </p:nvSpPr>
        <p:spPr>
          <a:xfrm>
            <a:off x="1181100" y="704850"/>
            <a:ext cx="266700" cy="38100"/>
          </a:xfrm>
          <a:prstGeom prst="roundRect">
            <a:avLst>
              <a:gd name="adj" fmla="val 50000"/>
            </a:avLst>
          </a:prstGeom>
          <a:solidFill>
            <a:srgbClr val="5EC8D8"/>
          </a:solidFill>
          <a:ln w="9525">
            <a:solidFill>
              <a:srgbClr val="5EC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05756A-5C82-4E0F-B01C-9709D7C1A18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TRAINING PROCESS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5815AA-ABDC-4737-9A17-3E569099A0E3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9620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데이터를 버리지 않고 sample weights로 불균형을 보정했습니다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386FFEF-A809-4123-B7B8-94157217F074}"/>
              </a:ext>
            </a:extLst>
          </p:cNvPr>
          <p:cNvSpPr>
            <a:spLocks noGrp="1"/>
          </p:cNvSpPr>
          <p:nvPr/>
        </p:nvSpPr>
        <p:spPr>
          <a:xfrm>
            <a:off x="10839450" y="400050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5000"/>
              </a:lnSpc>
              <a:buNone/>
              <a:def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92A96304-148D-457C-9250-57222241FF41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2857500" cy="1104900"/>
          </a:xfrm>
          <a:prstGeom prst="roundRect">
            <a:avLst>
              <a:gd name="adj" fmla="val 17241"/>
            </a:avLst>
          </a:prstGeom>
          <a:solidFill>
            <a:srgbClr val="1D232D"/>
          </a:solidFill>
          <a:ln w="9525">
            <a:solidFill>
              <a:srgbClr val="313A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48CA32-5EC8-48D4-9545-78089E36FD44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Collect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BB43E8-6298-4C48-B904-F28CF7D1A7F1}"/>
              </a:ext>
            </a:extLst>
          </p:cNvPr>
          <p:cNvSpPr>
            <a:spLocks noGrp="1"/>
          </p:cNvSpPr>
          <p:nvPr/>
        </p:nvSpPr>
        <p:spPr>
          <a:xfrm>
            <a:off x="952500" y="26098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OpenCV ROI images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7E53DAE-7378-4174-ACAD-E7BDFECC9FE8}"/>
              </a:ext>
            </a:extLst>
          </p:cNvPr>
          <p:cNvSpPr>
            <a:spLocks noGrp="1"/>
          </p:cNvSpPr>
          <p:nvPr/>
        </p:nvSpPr>
        <p:spPr>
          <a:xfrm>
            <a:off x="3733800" y="2305050"/>
            <a:ext cx="419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6E7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6E7886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E3EA18CF-4ED2-49E6-B9D5-30597F55A3D8}"/>
              </a:ext>
            </a:extLst>
          </p:cNvPr>
          <p:cNvSpPr>
            <a:spLocks noGrp="1"/>
          </p:cNvSpPr>
          <p:nvPr/>
        </p:nvSpPr>
        <p:spPr>
          <a:xfrm>
            <a:off x="4229100" y="1981200"/>
            <a:ext cx="2857500" cy="1104900"/>
          </a:xfrm>
          <a:prstGeom prst="roundRect">
            <a:avLst>
              <a:gd name="adj" fmla="val 17241"/>
            </a:avLst>
          </a:prstGeom>
          <a:solidFill>
            <a:srgbClr val="1D232D"/>
          </a:solidFill>
          <a:ln w="9525">
            <a:solidFill>
              <a:srgbClr val="313A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7559C39-D17C-419D-BDC9-636D3047BE6A}"/>
              </a:ext>
            </a:extLst>
          </p:cNvPr>
          <p:cNvSpPr>
            <a:spLocks noGrp="1"/>
          </p:cNvSpPr>
          <p:nvPr/>
        </p:nvSpPr>
        <p:spPr>
          <a:xfrm>
            <a:off x="4457700" y="2190750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rPr>
              <a:t>Preprocess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357811E-4102-43A4-A5A5-6705C28AEC3A}"/>
              </a:ext>
            </a:extLst>
          </p:cNvPr>
          <p:cNvSpPr>
            <a:spLocks noGrp="1"/>
          </p:cNvSpPr>
          <p:nvPr/>
        </p:nvSpPr>
        <p:spPr>
          <a:xfrm>
            <a:off x="4457700" y="26098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resize · RGB · normalize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C357904-90CA-4C1D-9649-27FA3F5E20DC}"/>
              </a:ext>
            </a:extLst>
          </p:cNvPr>
          <p:cNvSpPr>
            <a:spLocks noGrp="1"/>
          </p:cNvSpPr>
          <p:nvPr/>
        </p:nvSpPr>
        <p:spPr>
          <a:xfrm>
            <a:off x="7239000" y="2305050"/>
            <a:ext cx="419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6E7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6E7886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20F79674-0771-478E-89EB-3F3007E618F2}"/>
              </a:ext>
            </a:extLst>
          </p:cNvPr>
          <p:cNvSpPr>
            <a:spLocks noGrp="1"/>
          </p:cNvSpPr>
          <p:nvPr/>
        </p:nvSpPr>
        <p:spPr>
          <a:xfrm>
            <a:off x="7734300" y="1981200"/>
            <a:ext cx="2857500" cy="1104900"/>
          </a:xfrm>
          <a:prstGeom prst="roundRect">
            <a:avLst>
              <a:gd name="adj" fmla="val 17241"/>
            </a:avLst>
          </a:prstGeom>
          <a:solidFill>
            <a:srgbClr val="1D232D"/>
          </a:solidFill>
          <a:ln w="9525">
            <a:solidFill>
              <a:srgbClr val="313A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D147FE-90D6-4432-A9CA-BBB67938DACA}"/>
              </a:ext>
            </a:extLst>
          </p:cNvPr>
          <p:cNvSpPr>
            <a:spLocks noGrp="1"/>
          </p:cNvSpPr>
          <p:nvPr/>
        </p:nvSpPr>
        <p:spPr>
          <a:xfrm>
            <a:off x="7962900" y="2190750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rPr>
              <a:t>Augment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2F58464-0AAB-4BD9-B6AC-5D3D30E3F81D}"/>
              </a:ext>
            </a:extLst>
          </p:cNvPr>
          <p:cNvSpPr>
            <a:spLocks noGrp="1"/>
          </p:cNvSpPr>
          <p:nvPr/>
        </p:nvSpPr>
        <p:spPr>
          <a:xfrm>
            <a:off x="7962900" y="26098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flip · rotate · zoom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614461DF-852E-418B-9086-981DB01B19C2}"/>
              </a:ext>
            </a:extLst>
          </p:cNvPr>
          <p:cNvSpPr>
            <a:spLocks noGrp="1"/>
          </p:cNvSpPr>
          <p:nvPr/>
        </p:nvSpPr>
        <p:spPr>
          <a:xfrm>
            <a:off x="723900" y="3600450"/>
            <a:ext cx="2857500" cy="1104900"/>
          </a:xfrm>
          <a:prstGeom prst="roundRect">
            <a:avLst>
              <a:gd name="adj" fmla="val 17241"/>
            </a:avLst>
          </a:prstGeom>
          <a:solidFill>
            <a:srgbClr val="1D232D"/>
          </a:solidFill>
          <a:ln w="9525">
            <a:solidFill>
              <a:srgbClr val="313A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4809BE0-CBA0-4564-9974-E667E80A6C03}"/>
              </a:ext>
            </a:extLst>
          </p:cNvPr>
          <p:cNvSpPr>
            <a:spLocks noGrp="1"/>
          </p:cNvSpPr>
          <p:nvPr/>
        </p:nvSpPr>
        <p:spPr>
          <a:xfrm>
            <a:off x="952500" y="3810000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Train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D070956-9FDC-44CC-9F70-873246A5D7F0}"/>
              </a:ext>
            </a:extLst>
          </p:cNvPr>
          <p:cNvSpPr>
            <a:spLocks noGrp="1"/>
          </p:cNvSpPr>
          <p:nvPr/>
        </p:nvSpPr>
        <p:spPr>
          <a:xfrm>
            <a:off x="952500" y="42291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CNN + sample weights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410A363-7E80-4743-B39A-1B25D071EC85}"/>
              </a:ext>
            </a:extLst>
          </p:cNvPr>
          <p:cNvSpPr>
            <a:spLocks noGrp="1"/>
          </p:cNvSpPr>
          <p:nvPr/>
        </p:nvSpPr>
        <p:spPr>
          <a:xfrm>
            <a:off x="3733800" y="3924300"/>
            <a:ext cx="419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6E7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6E7886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8863782D-A12A-4164-B034-9AB685739BFF}"/>
              </a:ext>
            </a:extLst>
          </p:cNvPr>
          <p:cNvSpPr>
            <a:spLocks noGrp="1"/>
          </p:cNvSpPr>
          <p:nvPr/>
        </p:nvSpPr>
        <p:spPr>
          <a:xfrm>
            <a:off x="4229100" y="3600450"/>
            <a:ext cx="2857500" cy="1104900"/>
          </a:xfrm>
          <a:prstGeom prst="roundRect">
            <a:avLst>
              <a:gd name="adj" fmla="val 17241"/>
            </a:avLst>
          </a:prstGeom>
          <a:solidFill>
            <a:srgbClr val="1D232D"/>
          </a:solidFill>
          <a:ln w="9525">
            <a:solidFill>
              <a:srgbClr val="313A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EACAC89-6398-4585-8E2A-DEAA0E6CC8B5}"/>
              </a:ext>
            </a:extLst>
          </p:cNvPr>
          <p:cNvSpPr>
            <a:spLocks noGrp="1"/>
          </p:cNvSpPr>
          <p:nvPr/>
        </p:nvSpPr>
        <p:spPr>
          <a:xfrm>
            <a:off x="4457700" y="3810000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ED6A5A"/>
                </a:solidFill>
                <a:latin typeface="Apple SD Gothic Neo"/>
                <a:ea typeface="Apple SD Gothic Neo"/>
                <a:cs typeface="Apple SD Gothic Neo"/>
              </a:rPr>
              <a:t>Feedback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F9B33E9-D931-4F6E-8A76-98533580FAA1}"/>
              </a:ext>
            </a:extLst>
          </p:cNvPr>
          <p:cNvSpPr>
            <a:spLocks noGrp="1"/>
          </p:cNvSpPr>
          <p:nvPr/>
        </p:nvSpPr>
        <p:spPr>
          <a:xfrm>
            <a:off x="4457700" y="42291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wrong ROI → dataset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CE0AD51-2B92-443E-9392-616A8EFB4030}"/>
              </a:ext>
            </a:extLst>
          </p:cNvPr>
          <p:cNvSpPr>
            <a:spLocks noGrp="1"/>
          </p:cNvSpPr>
          <p:nvPr/>
        </p:nvSpPr>
        <p:spPr>
          <a:xfrm>
            <a:off x="7239000" y="3924300"/>
            <a:ext cx="419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6E788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6E7886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3265180C-5AA7-43BF-9491-C65E72A23E26}"/>
              </a:ext>
            </a:extLst>
          </p:cNvPr>
          <p:cNvSpPr>
            <a:spLocks noGrp="1"/>
          </p:cNvSpPr>
          <p:nvPr/>
        </p:nvSpPr>
        <p:spPr>
          <a:xfrm>
            <a:off x="7734300" y="3600450"/>
            <a:ext cx="2857500" cy="1104900"/>
          </a:xfrm>
          <a:prstGeom prst="roundRect">
            <a:avLst>
              <a:gd name="adj" fmla="val 17241"/>
            </a:avLst>
          </a:prstGeom>
          <a:solidFill>
            <a:srgbClr val="1D232D"/>
          </a:solidFill>
          <a:ln w="9525">
            <a:solidFill>
              <a:srgbClr val="313A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6349A72-C65D-4D4F-BDCB-4F454D310AED}"/>
              </a:ext>
            </a:extLst>
          </p:cNvPr>
          <p:cNvSpPr>
            <a:spLocks noGrp="1"/>
          </p:cNvSpPr>
          <p:nvPr/>
        </p:nvSpPr>
        <p:spPr>
          <a:xfrm>
            <a:off x="7962900" y="3810000"/>
            <a:ext cx="2343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rPr>
              <a:t>Retrain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F214851-C008-406E-8E3D-5E01ABA239CB}"/>
              </a:ext>
            </a:extLst>
          </p:cNvPr>
          <p:cNvSpPr>
            <a:spLocks noGrp="1"/>
          </p:cNvSpPr>
          <p:nvPr/>
        </p:nvSpPr>
        <p:spPr>
          <a:xfrm>
            <a:off x="7962900" y="42291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best checkpoint saved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3C4ED22B-EDE1-41A2-8426-4516E585DD4C}"/>
              </a:ext>
            </a:extLst>
          </p:cNvPr>
          <p:cNvSpPr>
            <a:spLocks noGrp="1"/>
          </p:cNvSpPr>
          <p:nvPr/>
        </p:nvSpPr>
        <p:spPr>
          <a:xfrm>
            <a:off x="914400" y="5257800"/>
            <a:ext cx="9620250" cy="666750"/>
          </a:xfrm>
          <a:prstGeom prst="roundRect">
            <a:avLst>
              <a:gd name="adj" fmla="val 25714"/>
            </a:avLst>
          </a:prstGeom>
          <a:solidFill>
            <a:srgbClr val="10151D"/>
          </a:solidFill>
          <a:ln w="9525">
            <a:solidFill>
              <a:srgbClr val="313A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3B9E0BC4-A77B-4C92-A406-FE78F5EB396F}"/>
              </a:ext>
            </a:extLst>
          </p:cNvPr>
          <p:cNvSpPr>
            <a:spLocks noGrp="1"/>
          </p:cNvSpPr>
          <p:nvPr/>
        </p:nvSpPr>
        <p:spPr>
          <a:xfrm>
            <a:off x="1200150" y="5410200"/>
            <a:ext cx="1123950" cy="361950"/>
          </a:xfrm>
          <a:prstGeom prst="roundRect">
            <a:avLst>
              <a:gd name="adj" fmla="val 50000"/>
            </a:avLst>
          </a:prstGeom>
          <a:solidFill>
            <a:srgbClr val="3CE87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3B93D34-DB03-480D-B650-4AFA1C2A65B5}"/>
              </a:ext>
            </a:extLst>
          </p:cNvPr>
          <p:cNvSpPr>
            <a:spLocks noGrp="1"/>
          </p:cNvSpPr>
          <p:nvPr/>
        </p:nvSpPr>
        <p:spPr>
          <a:xfrm>
            <a:off x="1314450" y="5462343"/>
            <a:ext cx="89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dirty="0" err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최종</a:t>
            </a:r>
            <a:r>
              <a:rPr sz="1200" b="1" dirty="0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  <a:endParaRPr sz="1200" b="1" dirty="0">
              <a:solidFill>
                <a:srgbClr val="071018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FAA9089-F3AF-4C16-825B-18294D42BC2A}"/>
              </a:ext>
            </a:extLst>
          </p:cNvPr>
          <p:cNvSpPr>
            <a:spLocks noGrp="1"/>
          </p:cNvSpPr>
          <p:nvPr/>
        </p:nvSpPr>
        <p:spPr>
          <a:xfrm>
            <a:off x="2590800" y="5318325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`--no-</a:t>
            </a:r>
            <a:r>
              <a:rPr sz="157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balance`로</a:t>
            </a:r>
            <a:r>
              <a:rPr sz="15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전체</a:t>
            </a:r>
            <a:r>
              <a:rPr sz="15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데이터를</a:t>
            </a:r>
            <a:r>
              <a:rPr sz="157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7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유지</a:t>
            </a:r>
            <a:endParaRPr sz="1575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3430A40-E54F-4A66-B992-C8BE308050CA}"/>
              </a:ext>
            </a:extLst>
          </p:cNvPr>
          <p:cNvSpPr>
            <a:spLocks noGrp="1"/>
          </p:cNvSpPr>
          <p:nvPr/>
        </p:nvSpPr>
        <p:spPr>
          <a:xfrm>
            <a:off x="2590800" y="560407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dirty="0" err="1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클래스</a:t>
            </a:r>
            <a:r>
              <a:rPr sz="1275" b="0" dirty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불균형은</a:t>
            </a:r>
            <a:r>
              <a:rPr sz="1275" b="0" dirty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 sample </a:t>
            </a:r>
            <a:r>
              <a:rPr sz="1275" b="0" dirty="0" err="1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weights로</a:t>
            </a:r>
            <a:r>
              <a:rPr sz="1275" b="0" dirty="0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AAB3C2"/>
                </a:solidFill>
                <a:latin typeface="Apple SD Gothic Neo"/>
                <a:ea typeface="Apple SD Gothic Neo"/>
                <a:cs typeface="Apple SD Gothic Neo"/>
              </a:rPr>
              <a:t>보정</a:t>
            </a:r>
            <a:endParaRPr sz="1275" b="0" dirty="0">
              <a:solidFill>
                <a:srgbClr val="AAB3C2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30537A9-8671-4E9C-951D-B98DA21C31F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Project04 Hand Gesture Classifier · 5/9</a:t>
            </a:r>
          </a:p>
        </p:txBody>
      </p:sp>
    </p:spTree>
    <p:extLst>
      <p:ext uri="{BB962C8B-B14F-4D97-AF65-F5344CB8AC3E}">
        <p14:creationId xmlns:p14="http://schemas.microsoft.com/office/powerpoint/2010/main" val="737051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C1BB90C1-6589-4309-9456-E17465038E9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495300" cy="38100"/>
          </a:xfrm>
          <a:prstGeom prst="roundRect">
            <a:avLst>
              <a:gd name="adj" fmla="val 50000"/>
            </a:avLst>
          </a:prstGeom>
          <a:solidFill>
            <a:srgbClr val="3CE878"/>
          </a:solidFill>
          <a:ln w="9525">
            <a:solidFill>
              <a:srgbClr val="3CE8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BF139D83-C213-4F01-9A96-D099E86FB6D5}"/>
              </a:ext>
            </a:extLst>
          </p:cNvPr>
          <p:cNvSpPr>
            <a:spLocks noGrp="1"/>
          </p:cNvSpPr>
          <p:nvPr/>
        </p:nvSpPr>
        <p:spPr>
          <a:xfrm>
            <a:off x="1181100" y="704850"/>
            <a:ext cx="266700" cy="38100"/>
          </a:xfrm>
          <a:prstGeom prst="roundRect">
            <a:avLst>
              <a:gd name="adj" fmla="val 50000"/>
            </a:avLst>
          </a:prstGeom>
          <a:solidFill>
            <a:srgbClr val="5EC8D8"/>
          </a:solidFill>
          <a:ln w="9525">
            <a:solidFill>
              <a:srgbClr val="5EC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222D687-787B-41A8-9346-2EDC06477CF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CORE CODE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D14DF2-E603-4460-9206-64B36C282CA2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9620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핵심은 같은 ROI 규칙을 학습과 추론에 공유하는 부분입니다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5AABDCA-3396-4BB3-8F3B-0BF8C9FAD93F}"/>
              </a:ext>
            </a:extLst>
          </p:cNvPr>
          <p:cNvSpPr>
            <a:spLocks noGrp="1"/>
          </p:cNvSpPr>
          <p:nvPr/>
        </p:nvSpPr>
        <p:spPr>
          <a:xfrm>
            <a:off x="10839450" y="400050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5000"/>
              </a:lnSpc>
              <a:buNone/>
              <a:def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A151BA99-3956-4362-8325-E824248FFC59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5143500" cy="3867150"/>
          </a:xfrm>
          <a:prstGeom prst="roundRect">
            <a:avLst>
              <a:gd name="adj" fmla="val 5419"/>
            </a:avLst>
          </a:prstGeom>
          <a:solidFill>
            <a:srgbClr val="11151C"/>
          </a:solidFill>
          <a:ln w="9525">
            <a:solidFill>
              <a:srgbClr val="2732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2CE8A7E-E944-4D3F-966A-FC25D4B7BB17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5EC8D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5EC8D8"/>
                </a:solidFill>
                <a:latin typeface="Menlo"/>
                <a:ea typeface="Menlo"/>
                <a:cs typeface="Menlo"/>
              </a:rPr>
              <a:t>project04_hand_gesture_utils.py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28BD11-0FBF-4721-BF52-4B1D2CC30C9E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C8D3D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8D3DF"/>
                </a:solidFill>
                <a:latin typeface="Menlo"/>
                <a:ea typeface="Menlo"/>
                <a:cs typeface="Menlo"/>
              </a:rPr>
              <a:t>resized = cv2.resize(roi, (128, 128))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292049B-0CE4-49B7-B9E5-0E4844A5DB54}"/>
              </a:ext>
            </a:extLst>
          </p:cNvPr>
          <p:cNvSpPr>
            <a:spLocks noGrp="1"/>
          </p:cNvSpPr>
          <p:nvPr/>
        </p:nvSpPr>
        <p:spPr>
          <a:xfrm>
            <a:off x="895350" y="28003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C8D3D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8D3DF"/>
                </a:solidFill>
                <a:latin typeface="Menlo"/>
                <a:ea typeface="Menlo"/>
                <a:cs typeface="Menlo"/>
              </a:rPr>
              <a:t>rgb = cv2.cvtColor(resized, cv2.COLOR_BGR2RGB)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5FF7CC7-D336-4E6F-84D9-BE1AD7148ECE}"/>
              </a:ext>
            </a:extLst>
          </p:cNvPr>
          <p:cNvSpPr>
            <a:spLocks noGrp="1"/>
          </p:cNvSpPr>
          <p:nvPr/>
        </p:nvSpPr>
        <p:spPr>
          <a:xfrm>
            <a:off x="895350" y="31242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C8D3D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C8D3DF"/>
                </a:solidFill>
                <a:latin typeface="Menlo"/>
                <a:ea typeface="Menlo"/>
                <a:cs typeface="Menlo"/>
              </a:rPr>
              <a:t>normalized = rgb.astype(np.float32) / 255.0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9F652E-A2C5-4D5D-9D65-EE4F34A30597}"/>
              </a:ext>
            </a:extLst>
          </p:cNvPr>
          <p:cNvSpPr>
            <a:spLocks noGrp="1"/>
          </p:cNvSpPr>
          <p:nvPr/>
        </p:nvSpPr>
        <p:spPr>
          <a:xfrm>
            <a:off x="895350" y="3695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E7EAF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7EAF0"/>
                </a:solidFill>
                <a:latin typeface="Menlo"/>
                <a:ea typeface="Menlo"/>
                <a:cs typeface="Menlo"/>
              </a:rPr>
              <a:t>prediction = model.predict(sample, verbose=0)[0]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7A38493-8F61-4F14-A511-AC83C0F22609}"/>
              </a:ext>
            </a:extLst>
          </p:cNvPr>
          <p:cNvSpPr>
            <a:spLocks noGrp="1"/>
          </p:cNvSpPr>
          <p:nvPr/>
        </p:nvSpPr>
        <p:spPr>
          <a:xfrm>
            <a:off x="895350" y="40195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3CE87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3CE878"/>
                </a:solidFill>
                <a:latin typeface="Menlo"/>
                <a:ea typeface="Menlo"/>
                <a:cs typeface="Menlo"/>
              </a:rPr>
              <a:t>if confidence &lt; threshold: return "unknown"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1896D27-A6BA-4EFD-A131-3888297BD309}"/>
              </a:ext>
            </a:extLst>
          </p:cNvPr>
          <p:cNvSpPr>
            <a:spLocks noGrp="1"/>
          </p:cNvSpPr>
          <p:nvPr/>
        </p:nvSpPr>
        <p:spPr>
          <a:xfrm>
            <a:off x="895350" y="4343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3CE878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3CE878"/>
                </a:solidFill>
                <a:latin typeface="Menlo"/>
                <a:ea typeface="Menlo"/>
                <a:cs typeface="Menlo"/>
              </a:rPr>
              <a:t>if margin &lt; unknown_margin: return "unknown"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856ED265-1658-4E58-A160-2518BE47D22A}"/>
              </a:ext>
            </a:extLst>
          </p:cNvPr>
          <p:cNvSpPr>
            <a:spLocks noGrp="1"/>
          </p:cNvSpPr>
          <p:nvPr/>
        </p:nvSpPr>
        <p:spPr>
          <a:xfrm>
            <a:off x="6305550" y="1771650"/>
            <a:ext cx="4400550" cy="704850"/>
          </a:xfrm>
          <a:prstGeom prst="roundRect">
            <a:avLst>
              <a:gd name="adj" fmla="val 24324"/>
            </a:avLst>
          </a:prstGeom>
          <a:solidFill>
            <a:srgbClr val="19212D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C55B8EDA-D29A-44FE-BE5C-48FD6D457AF4}"/>
              </a:ext>
            </a:extLst>
          </p:cNvPr>
          <p:cNvSpPr>
            <a:spLocks noGrp="1"/>
          </p:cNvSpPr>
          <p:nvPr/>
        </p:nvSpPr>
        <p:spPr>
          <a:xfrm>
            <a:off x="6305550" y="1771650"/>
            <a:ext cx="95250" cy="704850"/>
          </a:xfrm>
          <a:prstGeom prst="roundRect">
            <a:avLst>
              <a:gd name="adj" fmla="val 50000"/>
            </a:avLst>
          </a:prstGeom>
          <a:solidFill>
            <a:srgbClr val="ED6A5A"/>
          </a:solidFill>
          <a:ln w="9525">
            <a:solidFill>
              <a:srgbClr val="ED6A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181D789-F5C5-477E-9CB4-E2BDD7F14622}"/>
              </a:ext>
            </a:extLst>
          </p:cNvPr>
          <p:cNvSpPr>
            <a:spLocks noGrp="1"/>
          </p:cNvSpPr>
          <p:nvPr/>
        </p:nvSpPr>
        <p:spPr>
          <a:xfrm>
            <a:off x="6572250" y="19050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ROI crop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92EFFE6-9C47-4ADA-83A6-7B1931B200A6}"/>
              </a:ext>
            </a:extLst>
          </p:cNvPr>
          <p:cNvSpPr>
            <a:spLocks noGrp="1"/>
          </p:cNvSpPr>
          <p:nvPr/>
        </p:nvSpPr>
        <p:spPr>
          <a:xfrm>
            <a:off x="8058150" y="1895475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crop_center_roi()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중앙 정사각형 영역 추출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DB2138C1-56D7-41CE-874E-A42D203E86D0}"/>
              </a:ext>
            </a:extLst>
          </p:cNvPr>
          <p:cNvSpPr>
            <a:spLocks noGrp="1"/>
          </p:cNvSpPr>
          <p:nvPr/>
        </p:nvSpPr>
        <p:spPr>
          <a:xfrm>
            <a:off x="6305550" y="2724150"/>
            <a:ext cx="4400550" cy="704850"/>
          </a:xfrm>
          <a:prstGeom prst="roundRect">
            <a:avLst>
              <a:gd name="adj" fmla="val 24324"/>
            </a:avLst>
          </a:prstGeom>
          <a:solidFill>
            <a:srgbClr val="19212D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4D83026B-0E99-4BFD-9075-E127E0C6FD54}"/>
              </a:ext>
            </a:extLst>
          </p:cNvPr>
          <p:cNvSpPr>
            <a:spLocks noGrp="1"/>
          </p:cNvSpPr>
          <p:nvPr/>
        </p:nvSpPr>
        <p:spPr>
          <a:xfrm>
            <a:off x="6305550" y="2724150"/>
            <a:ext cx="95250" cy="704850"/>
          </a:xfrm>
          <a:prstGeom prst="roundRect">
            <a:avLst>
              <a:gd name="adj" fmla="val 50000"/>
            </a:avLst>
          </a:prstGeom>
          <a:solidFill>
            <a:srgbClr val="5EC8D8"/>
          </a:solidFill>
          <a:ln w="9525">
            <a:solidFill>
              <a:srgbClr val="5EC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812BDAF-665D-4B80-A823-AC6D029F4766}"/>
              </a:ext>
            </a:extLst>
          </p:cNvPr>
          <p:cNvSpPr>
            <a:spLocks noGrp="1"/>
          </p:cNvSpPr>
          <p:nvPr/>
        </p:nvSpPr>
        <p:spPr>
          <a:xfrm>
            <a:off x="6572250" y="28575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Preprocess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16C9360-C30D-4F86-B819-7CDD17055667}"/>
              </a:ext>
            </a:extLst>
          </p:cNvPr>
          <p:cNvSpPr>
            <a:spLocks noGrp="1"/>
          </p:cNvSpPr>
          <p:nvPr/>
        </p:nvSpPr>
        <p:spPr>
          <a:xfrm>
            <a:off x="8058150" y="2847975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128 x 128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BGR → RGB → normalize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C3F1D153-F651-45EF-93DF-1EDAE348990A}"/>
              </a:ext>
            </a:extLst>
          </p:cNvPr>
          <p:cNvSpPr>
            <a:spLocks noGrp="1"/>
          </p:cNvSpPr>
          <p:nvPr/>
        </p:nvSpPr>
        <p:spPr>
          <a:xfrm>
            <a:off x="6305550" y="3676650"/>
            <a:ext cx="4400550" cy="704850"/>
          </a:xfrm>
          <a:prstGeom prst="roundRect">
            <a:avLst>
              <a:gd name="adj" fmla="val 24324"/>
            </a:avLst>
          </a:prstGeom>
          <a:solidFill>
            <a:srgbClr val="19212D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8CDC43E9-3102-43E6-B37E-BAD15B311BF1}"/>
              </a:ext>
            </a:extLst>
          </p:cNvPr>
          <p:cNvSpPr>
            <a:spLocks noGrp="1"/>
          </p:cNvSpPr>
          <p:nvPr/>
        </p:nvSpPr>
        <p:spPr>
          <a:xfrm>
            <a:off x="6305550" y="3676650"/>
            <a:ext cx="95250" cy="704850"/>
          </a:xfrm>
          <a:prstGeom prst="roundRect">
            <a:avLst>
              <a:gd name="adj" fmla="val 50000"/>
            </a:avLst>
          </a:prstGeom>
          <a:solidFill>
            <a:srgbClr val="3CE878"/>
          </a:solidFill>
          <a:ln w="9525">
            <a:solidFill>
              <a:srgbClr val="3CE8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941FA0-EB89-4818-AC01-5DE4BB123581}"/>
              </a:ext>
            </a:extLst>
          </p:cNvPr>
          <p:cNvSpPr>
            <a:spLocks noGrp="1"/>
          </p:cNvSpPr>
          <p:nvPr/>
        </p:nvSpPr>
        <p:spPr>
          <a:xfrm>
            <a:off x="6572250" y="38100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Prediction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B2DB800-2C09-48B4-8714-1F19260E6DAC}"/>
              </a:ext>
            </a:extLst>
          </p:cNvPr>
          <p:cNvSpPr>
            <a:spLocks noGrp="1"/>
          </p:cNvSpPr>
          <p:nvPr/>
        </p:nvSpPr>
        <p:spPr>
          <a:xfrm>
            <a:off x="8058150" y="3800475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softmax 결과를 threshold와 margin으로 보정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79D75B37-B785-4585-A326-9FDDC4A5D357}"/>
              </a:ext>
            </a:extLst>
          </p:cNvPr>
          <p:cNvSpPr>
            <a:spLocks noGrp="1"/>
          </p:cNvSpPr>
          <p:nvPr/>
        </p:nvSpPr>
        <p:spPr>
          <a:xfrm>
            <a:off x="6305550" y="4629150"/>
            <a:ext cx="4400550" cy="704850"/>
          </a:xfrm>
          <a:prstGeom prst="roundRect">
            <a:avLst>
              <a:gd name="adj" fmla="val 24324"/>
            </a:avLst>
          </a:prstGeom>
          <a:solidFill>
            <a:srgbClr val="19212D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751B3698-F387-4B74-9261-F33DE98B2CAB}"/>
              </a:ext>
            </a:extLst>
          </p:cNvPr>
          <p:cNvSpPr>
            <a:spLocks noGrp="1"/>
          </p:cNvSpPr>
          <p:nvPr/>
        </p:nvSpPr>
        <p:spPr>
          <a:xfrm>
            <a:off x="6305550" y="4629150"/>
            <a:ext cx="95250" cy="704850"/>
          </a:xfrm>
          <a:prstGeom prst="roundRect">
            <a:avLst>
              <a:gd name="adj" fmla="val 50000"/>
            </a:avLst>
          </a:prstGeom>
          <a:solidFill>
            <a:srgbClr val="F5B642"/>
          </a:solidFill>
          <a:ln w="9525">
            <a:solidFill>
              <a:srgbClr val="F5B6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2366A78-B7F5-4FC2-B5AD-1481D55F48A3}"/>
              </a:ext>
            </a:extLst>
          </p:cNvPr>
          <p:cNvSpPr>
            <a:spLocks noGrp="1"/>
          </p:cNvSpPr>
          <p:nvPr/>
        </p:nvSpPr>
        <p:spPr>
          <a:xfrm>
            <a:off x="6572250" y="47625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Feedback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AFAB633-F3D4-4548-9716-6DDCB34BFD53}"/>
              </a:ext>
            </a:extLst>
          </p:cNvPr>
          <p:cNvSpPr>
            <a:spLocks noGrp="1"/>
          </p:cNvSpPr>
          <p:nvPr/>
        </p:nvSpPr>
        <p:spPr>
          <a:xfrm>
            <a:off x="8058150" y="4752975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키 입력으로 ROI를 class folder에 저장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923A3C6-3A10-4550-9955-D954FAFF110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Project04 Hand Gesture Classifier · 6/9</a:t>
            </a:r>
          </a:p>
        </p:txBody>
      </p:sp>
    </p:spTree>
    <p:extLst>
      <p:ext uri="{BB962C8B-B14F-4D97-AF65-F5344CB8AC3E}">
        <p14:creationId xmlns:p14="http://schemas.microsoft.com/office/powerpoint/2010/main" val="388323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C636052-DD52-4063-BA2A-BFA2330399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D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CB5E1CFE-0082-466F-8362-AF820ED076F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495300" cy="38100"/>
          </a:xfrm>
          <a:prstGeom prst="roundRect">
            <a:avLst>
              <a:gd name="adj" fmla="val 50000"/>
            </a:avLst>
          </a:prstGeom>
          <a:solidFill>
            <a:srgbClr val="3CE878"/>
          </a:solidFill>
          <a:ln w="9525">
            <a:solidFill>
              <a:srgbClr val="3CE8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BB87D550-D684-418C-96DD-44F5FB567DDE}"/>
              </a:ext>
            </a:extLst>
          </p:cNvPr>
          <p:cNvSpPr>
            <a:spLocks noGrp="1"/>
          </p:cNvSpPr>
          <p:nvPr/>
        </p:nvSpPr>
        <p:spPr>
          <a:xfrm>
            <a:off x="1181100" y="704850"/>
            <a:ext cx="266700" cy="38100"/>
          </a:xfrm>
          <a:prstGeom prst="roundRect">
            <a:avLst>
              <a:gd name="adj" fmla="val 50000"/>
            </a:avLst>
          </a:prstGeom>
          <a:solidFill>
            <a:srgbClr val="5EC8D8"/>
          </a:solidFill>
          <a:ln w="9525">
            <a:solidFill>
              <a:srgbClr val="5EC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E11780-68F9-4A8D-AEB5-8D41C44FC1F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LIVE TEST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55D564-CD5A-4A96-8564-935EB29F6906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9620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실제 webcam 테스트 화면에서 네 상태를 확인했습니다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79A5A91-63C3-456E-A3F1-8A5606B04015}"/>
              </a:ext>
            </a:extLst>
          </p:cNvPr>
          <p:cNvSpPr>
            <a:spLocks noGrp="1"/>
          </p:cNvSpPr>
          <p:nvPr/>
        </p:nvSpPr>
        <p:spPr>
          <a:xfrm>
            <a:off x="10839450" y="400050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5000"/>
              </a:lnSpc>
              <a:buNone/>
              <a:def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4661EED-D681-44F1-9111-09BBB272EF15}"/>
              </a:ext>
            </a:extLst>
          </p:cNvPr>
          <p:cNvSpPr>
            <a:spLocks noGrp="1"/>
          </p:cNvSpPr>
          <p:nvPr/>
        </p:nvSpPr>
        <p:spPr>
          <a:xfrm>
            <a:off x="1047750" y="16192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open_hand</a:t>
            </a: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rcRect t="10310" b="10310"/>
          <a:stretch>
            <a:fillRect/>
          </a:stretch>
        </p:blipFill>
        <p:spPr>
          <a:xfrm>
            <a:off x="1047750" y="1943100"/>
            <a:ext cx="4095750" cy="1828800"/>
          </a:xfrm>
          <a:prstGeom prst="rect">
            <a:avLst/>
          </a:prstGeom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461E6C9D-7A11-4E03-A834-34CF8567FB8A}"/>
              </a:ext>
            </a:extLst>
          </p:cNvPr>
          <p:cNvSpPr>
            <a:spLocks noGrp="1"/>
          </p:cNvSpPr>
          <p:nvPr/>
        </p:nvSpPr>
        <p:spPr>
          <a:xfrm>
            <a:off x="1047750" y="3867150"/>
            <a:ext cx="4095750" cy="47625"/>
          </a:xfrm>
          <a:prstGeom prst="roundRect">
            <a:avLst>
              <a:gd name="adj" fmla="val 50000"/>
            </a:avLst>
          </a:prstGeom>
          <a:solidFill>
            <a:srgbClr val="3CE878"/>
          </a:solidFill>
          <a:ln w="9525">
            <a:solidFill>
              <a:srgbClr val="3CE8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F7EE20A-6060-4FBA-AF37-F10436486A0C}"/>
              </a:ext>
            </a:extLst>
          </p:cNvPr>
          <p:cNvSpPr>
            <a:spLocks noGrp="1"/>
          </p:cNvSpPr>
          <p:nvPr/>
        </p:nvSpPr>
        <p:spPr>
          <a:xfrm>
            <a:off x="6667500" y="16192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rPr>
              <a:t>fist</a:t>
            </a: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4"/>
          <a:srcRect t="10310" b="10310"/>
          <a:stretch>
            <a:fillRect/>
          </a:stretch>
        </p:blipFill>
        <p:spPr>
          <a:xfrm>
            <a:off x="6667500" y="1943100"/>
            <a:ext cx="4095750" cy="1828800"/>
          </a:xfrm>
          <a:prstGeom prst="rect">
            <a:avLst/>
          </a:prstGeom>
        </p:spPr>
      </p:pic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F8F46E29-9BC4-4358-9F5A-10DFB97148F2}"/>
              </a:ext>
            </a:extLst>
          </p:cNvPr>
          <p:cNvSpPr>
            <a:spLocks noGrp="1"/>
          </p:cNvSpPr>
          <p:nvPr/>
        </p:nvSpPr>
        <p:spPr>
          <a:xfrm>
            <a:off x="6667500" y="3867150"/>
            <a:ext cx="4095750" cy="47625"/>
          </a:xfrm>
          <a:prstGeom prst="roundRect">
            <a:avLst>
              <a:gd name="adj" fmla="val 50000"/>
            </a:avLst>
          </a:prstGeom>
          <a:solidFill>
            <a:srgbClr val="5EC8D8"/>
          </a:solidFill>
          <a:ln w="9525">
            <a:solidFill>
              <a:srgbClr val="5EC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E0EE0E-F5E2-4A3E-976A-2314532F16A2}"/>
              </a:ext>
            </a:extLst>
          </p:cNvPr>
          <p:cNvSpPr>
            <a:spLocks noGrp="1"/>
          </p:cNvSpPr>
          <p:nvPr/>
        </p:nvSpPr>
        <p:spPr>
          <a:xfrm>
            <a:off x="1047750" y="41148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peace</a:t>
            </a: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5"/>
          <a:srcRect t="10310" b="10310"/>
          <a:stretch>
            <a:fillRect/>
          </a:stretch>
        </p:blipFill>
        <p:spPr>
          <a:xfrm>
            <a:off x="1047750" y="4438650"/>
            <a:ext cx="4095750" cy="1828800"/>
          </a:xfrm>
          <a:prstGeom prst="rect">
            <a:avLst/>
          </a:prstGeom>
        </p:spPr>
      </p:pic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813025D5-4A0F-48E9-91DF-1C294B2DCA7C}"/>
              </a:ext>
            </a:extLst>
          </p:cNvPr>
          <p:cNvSpPr>
            <a:spLocks noGrp="1"/>
          </p:cNvSpPr>
          <p:nvPr/>
        </p:nvSpPr>
        <p:spPr>
          <a:xfrm>
            <a:off x="1047750" y="6362700"/>
            <a:ext cx="4095750" cy="47625"/>
          </a:xfrm>
          <a:prstGeom prst="roundRect">
            <a:avLst>
              <a:gd name="adj" fmla="val 50000"/>
            </a:avLst>
          </a:prstGeom>
          <a:solidFill>
            <a:srgbClr val="3CE878"/>
          </a:solidFill>
          <a:ln w="9525">
            <a:solidFill>
              <a:srgbClr val="3CE8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755D811-7AFB-4A0B-82F1-B23BEE4434A1}"/>
              </a:ext>
            </a:extLst>
          </p:cNvPr>
          <p:cNvSpPr>
            <a:spLocks noGrp="1"/>
          </p:cNvSpPr>
          <p:nvPr/>
        </p:nvSpPr>
        <p:spPr>
          <a:xfrm>
            <a:off x="6667500" y="41148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rPr>
              <a:t>unknown</a:t>
            </a: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6"/>
          <a:srcRect t="10310" b="10310"/>
          <a:stretch>
            <a:fillRect/>
          </a:stretch>
        </p:blipFill>
        <p:spPr>
          <a:xfrm>
            <a:off x="6667500" y="4438650"/>
            <a:ext cx="4095750" cy="1828800"/>
          </a:xfrm>
          <a:prstGeom prst="rect">
            <a:avLst/>
          </a:prstGeom>
        </p:spPr>
      </p:pic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006C3560-5B94-4FD4-81E2-9983B84BBDFC}"/>
              </a:ext>
            </a:extLst>
          </p:cNvPr>
          <p:cNvSpPr>
            <a:spLocks noGrp="1"/>
          </p:cNvSpPr>
          <p:nvPr/>
        </p:nvSpPr>
        <p:spPr>
          <a:xfrm>
            <a:off x="6667500" y="6362700"/>
            <a:ext cx="4095750" cy="47625"/>
          </a:xfrm>
          <a:prstGeom prst="roundRect">
            <a:avLst>
              <a:gd name="adj" fmla="val 50000"/>
            </a:avLst>
          </a:prstGeom>
          <a:solidFill>
            <a:srgbClr val="F5B642"/>
          </a:solidFill>
          <a:ln w="9525">
            <a:solidFill>
              <a:srgbClr val="F5B6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21815423-CCD9-45D6-8B91-97D05544C807}"/>
              </a:ext>
            </a:extLst>
          </p:cNvPr>
          <p:cNvSpPr>
            <a:spLocks noGrp="1"/>
          </p:cNvSpPr>
          <p:nvPr/>
        </p:nvSpPr>
        <p:spPr>
          <a:xfrm>
            <a:off x="7810500" y="1257300"/>
            <a:ext cx="3143250" cy="361950"/>
          </a:xfrm>
          <a:prstGeom prst="roundRect">
            <a:avLst>
              <a:gd name="adj" fmla="val 47368"/>
            </a:avLst>
          </a:prstGeom>
          <a:solidFill>
            <a:srgbClr val="3CE87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25464C5-231A-4EBB-B73F-8FA1662B0723}"/>
              </a:ext>
            </a:extLst>
          </p:cNvPr>
          <p:cNvSpPr>
            <a:spLocks noGrp="1"/>
          </p:cNvSpPr>
          <p:nvPr/>
        </p:nvSpPr>
        <p:spPr>
          <a:xfrm>
            <a:off x="7924800" y="1344168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threshold + unknown margin applied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899A2DE-C2EE-4ADD-86D4-FBE7CA9F17E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Project04 Hand Gesture Classifier · 7/9</a:t>
            </a:r>
          </a:p>
        </p:txBody>
      </p:sp>
    </p:spTree>
    <p:extLst>
      <p:ext uri="{BB962C8B-B14F-4D97-AF65-F5344CB8AC3E}">
        <p14:creationId xmlns:p14="http://schemas.microsoft.com/office/powerpoint/2010/main" val="513490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1A122D55-9E9F-4F0C-A2DC-7DF03DAFE752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495300" cy="38100"/>
          </a:xfrm>
          <a:prstGeom prst="roundRect">
            <a:avLst>
              <a:gd name="adj" fmla="val 50000"/>
            </a:avLst>
          </a:prstGeom>
          <a:solidFill>
            <a:srgbClr val="3CE878"/>
          </a:solidFill>
          <a:ln w="9525">
            <a:solidFill>
              <a:srgbClr val="3CE8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65927E03-4B43-40A1-88C3-5549C335BE3D}"/>
              </a:ext>
            </a:extLst>
          </p:cNvPr>
          <p:cNvSpPr>
            <a:spLocks noGrp="1"/>
          </p:cNvSpPr>
          <p:nvPr/>
        </p:nvSpPr>
        <p:spPr>
          <a:xfrm>
            <a:off x="1181100" y="704850"/>
            <a:ext cx="266700" cy="38100"/>
          </a:xfrm>
          <a:prstGeom prst="roundRect">
            <a:avLst>
              <a:gd name="adj" fmla="val 50000"/>
            </a:avLst>
          </a:prstGeom>
          <a:solidFill>
            <a:srgbClr val="5EC8D8"/>
          </a:solidFill>
          <a:ln w="9525">
            <a:solidFill>
              <a:srgbClr val="5EC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D87E36-903D-4F63-AF54-7944D443105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INSIGHTS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EDF01B-13D3-47A1-8386-FC81C5208136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9620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정확도보다 입력 조건과 예외 클래스 설계가 더 중요했습니다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446620-32F5-4539-94F3-2055A34AE3A9}"/>
              </a:ext>
            </a:extLst>
          </p:cNvPr>
          <p:cNvSpPr>
            <a:spLocks noGrp="1"/>
          </p:cNvSpPr>
          <p:nvPr/>
        </p:nvSpPr>
        <p:spPr>
          <a:xfrm>
            <a:off x="10839450" y="400050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5000"/>
              </a:lnSpc>
              <a:buNone/>
              <a:def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BAE481-131C-4ACA-A71A-3602F8A9883D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704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5B642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638504-D643-4E51-804F-9C630502D429}"/>
              </a:ext>
            </a:extLst>
          </p:cNvPr>
          <p:cNvSpPr>
            <a:spLocks noGrp="1"/>
          </p:cNvSpPr>
          <p:nvPr/>
        </p:nvSpPr>
        <p:spPr>
          <a:xfrm>
            <a:off x="1676400" y="20193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Unknown class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8999211-E714-441E-8F24-03F8CA3FC287}"/>
              </a:ext>
            </a:extLst>
          </p:cNvPr>
          <p:cNvSpPr>
            <a:spLocks noGrp="1"/>
          </p:cNvSpPr>
          <p:nvPr/>
        </p:nvSpPr>
        <p:spPr>
          <a:xfrm>
            <a:off x="1676400" y="243840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`unknown`이 없으면 애매한 손동작도 지원 제스처로 강제 분류됩니다.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9F2A43-0DF5-4C8A-9160-A4D1AA839C20}"/>
              </a:ext>
            </a:extLst>
          </p:cNvPr>
          <p:cNvSpPr>
            <a:spLocks noGrp="1"/>
          </p:cNvSpPr>
          <p:nvPr/>
        </p:nvSpPr>
        <p:spPr>
          <a:xfrm>
            <a:off x="781050" y="3105150"/>
            <a:ext cx="704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CA793E5-75A4-4672-BE8F-EFF87DC3C3CD}"/>
              </a:ext>
            </a:extLst>
          </p:cNvPr>
          <p:cNvSpPr>
            <a:spLocks noGrp="1"/>
          </p:cNvSpPr>
          <p:nvPr/>
        </p:nvSpPr>
        <p:spPr>
          <a:xfrm>
            <a:off x="1676400" y="31242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Data quality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3B5BD19-6BEC-4B48-98CC-34C53F9F8051}"/>
              </a:ext>
            </a:extLst>
          </p:cNvPr>
          <p:cNvSpPr>
            <a:spLocks noGrp="1"/>
          </p:cNvSpPr>
          <p:nvPr/>
        </p:nvSpPr>
        <p:spPr>
          <a:xfrm>
            <a:off x="1676400" y="354330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작은 CNN에서는 모델 구조보다 대표성 있는 직접 수집 데이터가 더 크게 작용했습니다.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CCF5090-B0FE-4570-85D6-CFECA8200F18}"/>
              </a:ext>
            </a:extLst>
          </p:cNvPr>
          <p:cNvSpPr>
            <a:spLocks noGrp="1"/>
          </p:cNvSpPr>
          <p:nvPr/>
        </p:nvSpPr>
        <p:spPr>
          <a:xfrm>
            <a:off x="781050" y="4210050"/>
            <a:ext cx="704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5EC8D8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44D6933-9034-4369-A4F2-664B4C049112}"/>
              </a:ext>
            </a:extLst>
          </p:cNvPr>
          <p:cNvSpPr>
            <a:spLocks noGrp="1"/>
          </p:cNvSpPr>
          <p:nvPr/>
        </p:nvSpPr>
        <p:spPr>
          <a:xfrm>
            <a:off x="1676400" y="42291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ROI consistency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521ABE0-69A9-40F9-87AE-6DF3C78EFE4C}"/>
              </a:ext>
            </a:extLst>
          </p:cNvPr>
          <p:cNvSpPr>
            <a:spLocks noGrp="1"/>
          </p:cNvSpPr>
          <p:nvPr/>
        </p:nvSpPr>
        <p:spPr>
          <a:xfrm>
            <a:off x="1676400" y="464820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학습과 추론에서 같은 crop, resize, color rule을 쓰는 것이 안정성의 기준입니다.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E03D2A21-9FD4-4DF7-8ACF-8016D8AE8697}"/>
              </a:ext>
            </a:extLst>
          </p:cNvPr>
          <p:cNvSpPr>
            <a:spLocks noGrp="1"/>
          </p:cNvSpPr>
          <p:nvPr/>
        </p:nvSpPr>
        <p:spPr>
          <a:xfrm>
            <a:off x="8743950" y="2095500"/>
            <a:ext cx="2209800" cy="2362200"/>
          </a:xfrm>
          <a:prstGeom prst="roundRect">
            <a:avLst>
              <a:gd name="adj" fmla="val 12069"/>
            </a:avLst>
          </a:prstGeom>
          <a:solidFill>
            <a:srgbClr val="111821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F3EBD6-676A-492C-A2D6-D378CF6FA3EE}"/>
              </a:ext>
            </a:extLst>
          </p:cNvPr>
          <p:cNvSpPr>
            <a:spLocks noGrp="1"/>
          </p:cNvSpPr>
          <p:nvPr/>
        </p:nvSpPr>
        <p:spPr>
          <a:xfrm>
            <a:off x="8991600" y="24193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792 / 835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01364A5-9E97-490A-BA52-C39193DE5425}"/>
              </a:ext>
            </a:extLst>
          </p:cNvPr>
          <p:cNvSpPr>
            <a:spLocks noGrp="1"/>
          </p:cNvSpPr>
          <p:nvPr/>
        </p:nvSpPr>
        <p:spPr>
          <a:xfrm>
            <a:off x="9010650" y="2857500"/>
            <a:ext cx="1295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5000"/>
              </a:lnSpc>
              <a:buNone/>
              <a:defRPr sz="37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94.9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553B034-EEF5-4D98-958C-B29AC14A6558}"/>
              </a:ext>
            </a:extLst>
          </p:cNvPr>
          <p:cNvSpPr>
            <a:spLocks noGrp="1"/>
          </p:cNvSpPr>
          <p:nvPr/>
        </p:nvSpPr>
        <p:spPr>
          <a:xfrm>
            <a:off x="10325100" y="3028950"/>
            <a:ext cx="361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%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D27962B-95F6-4ED9-9AAA-CE961CEB74C1}"/>
              </a:ext>
            </a:extLst>
          </p:cNvPr>
          <p:cNvSpPr>
            <a:spLocks noGrp="1"/>
          </p:cNvSpPr>
          <p:nvPr/>
        </p:nvSpPr>
        <p:spPr>
          <a:xfrm>
            <a:off x="8991600" y="37147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로컬 수집 데이터 기준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50EC02C-BC2B-4A8B-BCB0-3953DCEA3BAF}"/>
              </a:ext>
            </a:extLst>
          </p:cNvPr>
          <p:cNvSpPr>
            <a:spLocks noGrp="1"/>
          </p:cNvSpPr>
          <p:nvPr/>
        </p:nvSpPr>
        <p:spPr>
          <a:xfrm>
            <a:off x="8991600" y="39624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1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C9D0DA"/>
                </a:solidFill>
                <a:latin typeface="Apple SD Gothic Neo"/>
                <a:ea typeface="Apple SD Gothic Neo"/>
                <a:cs typeface="Apple SD Gothic Neo"/>
              </a:rPr>
              <a:t>개발 검증 지표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24964A1-ED70-4AFE-8609-80F18AAB996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Project04 Hand Gesture Classifier · 8/9</a:t>
            </a:r>
          </a:p>
        </p:txBody>
      </p:sp>
    </p:spTree>
    <p:extLst>
      <p:ext uri="{BB962C8B-B14F-4D97-AF65-F5344CB8AC3E}">
        <p14:creationId xmlns:p14="http://schemas.microsoft.com/office/powerpoint/2010/main" val="251439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B0E23C41-B760-4DC4-BEFC-606191612B7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495300" cy="38100"/>
          </a:xfrm>
          <a:prstGeom prst="roundRect">
            <a:avLst>
              <a:gd name="adj" fmla="val 50000"/>
            </a:avLst>
          </a:prstGeom>
          <a:solidFill>
            <a:srgbClr val="3CE878"/>
          </a:solidFill>
          <a:ln w="9525">
            <a:solidFill>
              <a:srgbClr val="3CE8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05330871-6258-4FD4-9DAE-B7E31B98893E}"/>
              </a:ext>
            </a:extLst>
          </p:cNvPr>
          <p:cNvSpPr>
            <a:spLocks noGrp="1"/>
          </p:cNvSpPr>
          <p:nvPr/>
        </p:nvSpPr>
        <p:spPr>
          <a:xfrm>
            <a:off x="1181100" y="704850"/>
            <a:ext cx="266700" cy="38100"/>
          </a:xfrm>
          <a:prstGeom prst="roundRect">
            <a:avLst>
              <a:gd name="adj" fmla="val 50000"/>
            </a:avLst>
          </a:prstGeom>
          <a:solidFill>
            <a:srgbClr val="5EC8D8"/>
          </a:solidFill>
          <a:ln w="9525">
            <a:solidFill>
              <a:srgbClr val="5EC8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F9585D4-D92B-4FB2-94B8-AFA29AFD920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CE878"/>
                </a:solidFill>
                <a:latin typeface="Apple SD Gothic Neo"/>
                <a:ea typeface="Apple SD Gothic Neo"/>
                <a:cs typeface="Apple SD Gothic Neo"/>
              </a:rPr>
              <a:t>NEXT DIRECTION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C4ED61D-05E8-48FF-ADC5-1A557AD9357B}"/>
              </a:ext>
            </a:extLst>
          </p:cNvPr>
          <p:cNvSpPr>
            <a:spLocks noGrp="1"/>
          </p:cNvSpPr>
          <p:nvPr/>
        </p:nvSpPr>
        <p:spPr>
          <a:xfrm>
            <a:off x="609600" y="762000"/>
            <a:ext cx="9620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데이터 확장과 정확도 개선을 거쳐 동적 제스처 인식으로 발전시킵니다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DD94F8-0EAC-491F-A1EB-690A04E03E59}"/>
              </a:ext>
            </a:extLst>
          </p:cNvPr>
          <p:cNvSpPr>
            <a:spLocks noGrp="1"/>
          </p:cNvSpPr>
          <p:nvPr/>
        </p:nvSpPr>
        <p:spPr>
          <a:xfrm>
            <a:off x="10839450" y="400050"/>
            <a:ext cx="76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05000"/>
              </a:lnSpc>
              <a:buNone/>
              <a:def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A4321787-0636-4265-9570-85CBE033D2A6}"/>
              </a:ext>
            </a:extLst>
          </p:cNvPr>
          <p:cNvSpPr>
            <a:spLocks noGrp="1"/>
          </p:cNvSpPr>
          <p:nvPr/>
        </p:nvSpPr>
        <p:spPr>
          <a:xfrm>
            <a:off x="742950" y="1924050"/>
            <a:ext cx="4667250" cy="1066800"/>
          </a:xfrm>
          <a:prstGeom prst="roundRect">
            <a:avLst>
              <a:gd name="adj" fmla="val 19643"/>
            </a:avLst>
          </a:prstGeom>
          <a:solidFill>
            <a:srgbClr val="19212D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ABEF51FB-1DB8-4473-91AF-56277725AE30}"/>
              </a:ext>
            </a:extLst>
          </p:cNvPr>
          <p:cNvSpPr>
            <a:spLocks noGrp="1"/>
          </p:cNvSpPr>
          <p:nvPr/>
        </p:nvSpPr>
        <p:spPr>
          <a:xfrm>
            <a:off x="1009650" y="22288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CE878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7BE016B-4E00-46B4-91FA-67D3276720E6}"/>
              </a:ext>
            </a:extLst>
          </p:cNvPr>
          <p:cNvSpPr>
            <a:spLocks noGrp="1"/>
          </p:cNvSpPr>
          <p:nvPr/>
        </p:nvSpPr>
        <p:spPr>
          <a:xfrm>
            <a:off x="1123950" y="2338578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71018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39AD811-57F9-4DC5-9036-A83C11945C37}"/>
              </a:ext>
            </a:extLst>
          </p:cNvPr>
          <p:cNvSpPr>
            <a:spLocks noGrp="1"/>
          </p:cNvSpPr>
          <p:nvPr/>
        </p:nvSpPr>
        <p:spPr>
          <a:xfrm>
            <a:off x="1714500" y="2171700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데이터 추가 수집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2297AC-564F-4F65-BC00-5C360A1C700E}"/>
              </a:ext>
            </a:extLst>
          </p:cNvPr>
          <p:cNvSpPr>
            <a:spLocks noGrp="1"/>
          </p:cNvSpPr>
          <p:nvPr/>
        </p:nvSpPr>
        <p:spPr>
          <a:xfrm>
            <a:off x="1714500" y="25336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조명, 거리, 배경, 손 모양 변화를 더 많이 확보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4F4B84E5-7A80-46C4-8217-FB59D1AE2C08}"/>
              </a:ext>
            </a:extLst>
          </p:cNvPr>
          <p:cNvSpPr>
            <a:spLocks noGrp="1"/>
          </p:cNvSpPr>
          <p:nvPr/>
        </p:nvSpPr>
        <p:spPr>
          <a:xfrm>
            <a:off x="6076950" y="1924050"/>
            <a:ext cx="4667250" cy="1066800"/>
          </a:xfrm>
          <a:prstGeom prst="roundRect">
            <a:avLst>
              <a:gd name="adj" fmla="val 19643"/>
            </a:avLst>
          </a:prstGeom>
          <a:solidFill>
            <a:srgbClr val="19212D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AABFA09D-6104-407B-91FB-93E2F7A72776}"/>
              </a:ext>
            </a:extLst>
          </p:cNvPr>
          <p:cNvSpPr>
            <a:spLocks noGrp="1"/>
          </p:cNvSpPr>
          <p:nvPr/>
        </p:nvSpPr>
        <p:spPr>
          <a:xfrm>
            <a:off x="6343650" y="22288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1182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A031A48-9DA2-4A4F-8FA8-DA800B9934E0}"/>
              </a:ext>
            </a:extLst>
          </p:cNvPr>
          <p:cNvSpPr>
            <a:spLocks noGrp="1"/>
          </p:cNvSpPr>
          <p:nvPr/>
        </p:nvSpPr>
        <p:spPr>
          <a:xfrm>
            <a:off x="6457950" y="2338578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BBE089-B37D-4002-B424-A399014B9195}"/>
              </a:ext>
            </a:extLst>
          </p:cNvPr>
          <p:cNvSpPr>
            <a:spLocks noGrp="1"/>
          </p:cNvSpPr>
          <p:nvPr/>
        </p:nvSpPr>
        <p:spPr>
          <a:xfrm>
            <a:off x="7048500" y="2171700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정확도 고도화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EACDE0-7039-4209-B29F-0A331952C1A8}"/>
              </a:ext>
            </a:extLst>
          </p:cNvPr>
          <p:cNvSpPr>
            <a:spLocks noGrp="1"/>
          </p:cNvSpPr>
          <p:nvPr/>
        </p:nvSpPr>
        <p:spPr>
          <a:xfrm>
            <a:off x="7048500" y="25336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확장 데이터로 재학습해 더 높은 인식 정확도 목표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AE48E144-94E3-455C-873D-E1AFDBDAEE03}"/>
              </a:ext>
            </a:extLst>
          </p:cNvPr>
          <p:cNvSpPr>
            <a:spLocks noGrp="1"/>
          </p:cNvSpPr>
          <p:nvPr/>
        </p:nvSpPr>
        <p:spPr>
          <a:xfrm>
            <a:off x="742950" y="3352800"/>
            <a:ext cx="4667250" cy="1066800"/>
          </a:xfrm>
          <a:prstGeom prst="roundRect">
            <a:avLst>
              <a:gd name="adj" fmla="val 19643"/>
            </a:avLst>
          </a:prstGeom>
          <a:solidFill>
            <a:srgbClr val="19212D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DCF53D1B-127D-4C77-85E0-63D345A8A634}"/>
              </a:ext>
            </a:extLst>
          </p:cNvPr>
          <p:cNvSpPr>
            <a:spLocks noGrp="1"/>
          </p:cNvSpPr>
          <p:nvPr/>
        </p:nvSpPr>
        <p:spPr>
          <a:xfrm>
            <a:off x="1009650" y="3657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1182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CDD57BD-9CA1-48A7-B4E5-74E70B1A6412}"/>
              </a:ext>
            </a:extLst>
          </p:cNvPr>
          <p:cNvSpPr>
            <a:spLocks noGrp="1"/>
          </p:cNvSpPr>
          <p:nvPr/>
        </p:nvSpPr>
        <p:spPr>
          <a:xfrm>
            <a:off x="1123950" y="3767328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9ED3513-9487-40B3-88C9-5F9991B647CD}"/>
              </a:ext>
            </a:extLst>
          </p:cNvPr>
          <p:cNvSpPr>
            <a:spLocks noGrp="1"/>
          </p:cNvSpPr>
          <p:nvPr/>
        </p:nvSpPr>
        <p:spPr>
          <a:xfrm>
            <a:off x="1714500" y="3600450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dirty="0" err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제스처</a:t>
            </a:r>
            <a:r>
              <a:rPr sz="1800" b="1" dirty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1" dirty="0" err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종류</a:t>
            </a:r>
            <a:r>
              <a:rPr sz="1800" b="1" dirty="0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00" b="1" dirty="0" err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확장</a:t>
            </a:r>
            <a:endParaRPr sz="1800" b="1" dirty="0">
              <a:solidFill>
                <a:srgbClr val="F4F7F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2CA42F1-4F8C-4AC4-AECA-14A8B1DED1FA}"/>
              </a:ext>
            </a:extLst>
          </p:cNvPr>
          <p:cNvSpPr>
            <a:spLocks noGrp="1"/>
          </p:cNvSpPr>
          <p:nvPr/>
        </p:nvSpPr>
        <p:spPr>
          <a:xfrm>
            <a:off x="1714499" y="3962400"/>
            <a:ext cx="355198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 dirty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open, fist, peace </a:t>
            </a:r>
            <a:r>
              <a:rPr sz="1275" b="0" dirty="0" err="1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외에</a:t>
            </a:r>
            <a:r>
              <a:rPr sz="1275" b="0" dirty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더</a:t>
            </a:r>
            <a:r>
              <a:rPr sz="1275" b="0" dirty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다양한</a:t>
            </a:r>
            <a:r>
              <a:rPr sz="1275" b="0" dirty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동작</a:t>
            </a:r>
            <a:r>
              <a:rPr sz="1275" b="0" dirty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클래스</a:t>
            </a:r>
            <a:r>
              <a:rPr sz="1275" b="0" dirty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75" b="0" dirty="0" err="1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추가</a:t>
            </a:r>
            <a:endParaRPr sz="1275" b="0" dirty="0">
              <a:solidFill>
                <a:srgbClr val="AAB4C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FF89A0A8-1BF7-471E-9A53-5250E4DD3613}"/>
              </a:ext>
            </a:extLst>
          </p:cNvPr>
          <p:cNvSpPr>
            <a:spLocks noGrp="1"/>
          </p:cNvSpPr>
          <p:nvPr/>
        </p:nvSpPr>
        <p:spPr>
          <a:xfrm>
            <a:off x="6076950" y="3352800"/>
            <a:ext cx="4667250" cy="1066800"/>
          </a:xfrm>
          <a:prstGeom prst="roundRect">
            <a:avLst>
              <a:gd name="adj" fmla="val 19643"/>
            </a:avLst>
          </a:prstGeom>
          <a:solidFill>
            <a:srgbClr val="19212D"/>
          </a:solidFill>
          <a:ln w="9525">
            <a:solidFill>
              <a:srgbClr val="3441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7C3CD067-1D91-4EE3-9795-99DFCFE2286D}"/>
              </a:ext>
            </a:extLst>
          </p:cNvPr>
          <p:cNvSpPr>
            <a:spLocks noGrp="1"/>
          </p:cNvSpPr>
          <p:nvPr/>
        </p:nvSpPr>
        <p:spPr>
          <a:xfrm>
            <a:off x="6343650" y="3657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11821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62651F2-F79D-4A5B-821D-736C71DC4831}"/>
              </a:ext>
            </a:extLst>
          </p:cNvPr>
          <p:cNvSpPr>
            <a:spLocks noGrp="1"/>
          </p:cNvSpPr>
          <p:nvPr/>
        </p:nvSpPr>
        <p:spPr>
          <a:xfrm>
            <a:off x="6457950" y="3767328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AA4EB0B-46DC-4F7A-A5A4-76718BAC8476}"/>
              </a:ext>
            </a:extLst>
          </p:cNvPr>
          <p:cNvSpPr>
            <a:spLocks noGrp="1"/>
          </p:cNvSpPr>
          <p:nvPr/>
        </p:nvSpPr>
        <p:spPr>
          <a:xfrm>
            <a:off x="7048500" y="3600450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4F7FB"/>
                </a:solidFill>
                <a:latin typeface="Apple SD Gothic Neo"/>
                <a:ea typeface="Apple SD Gothic Neo"/>
                <a:cs typeface="Apple SD Gothic Neo"/>
              </a:rPr>
              <a:t>움직이는 제스처 인식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E27D979-DD4D-449B-A434-4CE7156C2F8B}"/>
              </a:ext>
            </a:extLst>
          </p:cNvPr>
          <p:cNvSpPr>
            <a:spLocks noGrp="1"/>
          </p:cNvSpPr>
          <p:nvPr/>
        </p:nvSpPr>
        <p:spPr>
          <a:xfrm>
            <a:off x="7048500" y="39624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AB4C3"/>
                </a:solidFill>
                <a:latin typeface="Apple SD Gothic Neo"/>
                <a:ea typeface="Apple SD Gothic Neo"/>
                <a:cs typeface="Apple SD Gothic Neo"/>
              </a:rPr>
              <a:t>연속 프레임을 분석해 동적인 손동작까지 인식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6E4EEEA-1FA0-4D8C-9947-0AE020BC05C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66276"/>
                </a:solidFill>
                <a:latin typeface="Apple SD Gothic Neo"/>
                <a:ea typeface="Apple SD Gothic Neo"/>
                <a:cs typeface="Apple SD Gothic Neo"/>
              </a:rPr>
              <a:t>Project04 Hand Gesture Classifier · 9/9</a:t>
            </a:r>
          </a:p>
        </p:txBody>
      </p:sp>
    </p:spTree>
    <p:extLst>
      <p:ext uri="{BB962C8B-B14F-4D97-AF65-F5344CB8AC3E}">
        <p14:creationId xmlns:p14="http://schemas.microsoft.com/office/powerpoint/2010/main" val="18109498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</Words>
  <Application>Microsoft Macintosh PowerPoint</Application>
  <DocSecurity>0</DocSecurity>
  <PresentationFormat>와이드스크린</PresentationFormat>
  <Paragraphs>163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Apple SD Gothic Neo</vt:lpstr>
      <vt:lpstr>Calibri</vt:lpstr>
      <vt:lpstr>Menlo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귀인 정</cp:lastModifiedBy>
  <cp:revision>2</cp:revision>
  <dcterms:created xsi:type="dcterms:W3CDTF">2026-07-04T15:31:15Z</dcterms:created>
  <dcterms:modified xsi:type="dcterms:W3CDTF">2026-07-05T13:06:39Z</dcterms:modified>
</cp:coreProperties>
</file>
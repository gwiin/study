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9882cd753a4fb2" /><Relationship Type="http://schemas.openxmlformats.org/officeDocument/2006/relationships/extended-properties" Target="/docProps/app.xml" Id="Rd250712513f84e81" /><Relationship Type="http://schemas.openxmlformats.org/officeDocument/2006/relationships/officeDocument" Target="/ppt/presentation.xml" Id="Rffb0ca1022634a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56dac1420f4ee5"/>
  </p:sldMasterIdLst>
  <p:notesMasterIdLst>
    <p:notesMasterId xmlns:r="http://schemas.openxmlformats.org/officeDocument/2006/relationships" r:id="R09c64d7bb1824de2"/>
  </p:notesMasterIdLst>
  <p:sldIdLst>
    <p:sldId xmlns:r="http://schemas.openxmlformats.org/officeDocument/2006/relationships" id="256" r:id="R812073dfe2cb4c2b"/>
    <p:sldId xmlns:r="http://schemas.openxmlformats.org/officeDocument/2006/relationships" id="257" r:id="R9c6163b3043a44f5"/>
    <p:sldId xmlns:r="http://schemas.openxmlformats.org/officeDocument/2006/relationships" id="258" r:id="Rbffb686ab8554517"/>
    <p:sldId xmlns:r="http://schemas.openxmlformats.org/officeDocument/2006/relationships" id="259" r:id="Ra48de001fb584fc4"/>
    <p:sldId xmlns:r="http://schemas.openxmlformats.org/officeDocument/2006/relationships" id="260" r:id="R6371d88116244792"/>
    <p:sldId xmlns:r="http://schemas.openxmlformats.org/officeDocument/2006/relationships" id="261" r:id="R0a627e7e5f424842"/>
    <p:sldId xmlns:r="http://schemas.openxmlformats.org/officeDocument/2006/relationships" id="262" r:id="R81d687482f0f4b0a"/>
    <p:sldId xmlns:r="http://schemas.openxmlformats.org/officeDocument/2006/relationships" id="263" r:id="R5c9050e1bc474ca4"/>
    <p:sldId xmlns:r="http://schemas.openxmlformats.org/officeDocument/2006/relationships" id="264" r:id="Rb3c9bbf0b5be46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7e7f8feda14709" /><Relationship Type="http://schemas.openxmlformats.org/officeDocument/2006/relationships/slideMaster" Target="/ppt/slideMasters/slideMaster1.xml" Id="R8d56dac1420f4ee5" /><Relationship Type="http://schemas.openxmlformats.org/officeDocument/2006/relationships/notesMaster" Target="/ppt/notesMasters/notesMaster1.xml" Id="R09c64d7bb1824de2" /><Relationship Type="http://schemas.openxmlformats.org/officeDocument/2006/relationships/presProps" Target="/ppt/presProps.xml" Id="R7132575d5b324809" /><Relationship Type="http://schemas.openxmlformats.org/officeDocument/2006/relationships/tableStyles" Target="/ppt/tableStyles.xml" Id="R3ec0b53333f645a4" /><Relationship Type="http://schemas.openxmlformats.org/officeDocument/2006/relationships/slide" Target="/ppt/slides/slide1.xml" Id="R812073dfe2cb4c2b" /><Relationship Type="http://schemas.openxmlformats.org/officeDocument/2006/relationships/slide" Target="/ppt/slides/slide2.xml" Id="R9c6163b3043a44f5" /><Relationship Type="http://schemas.openxmlformats.org/officeDocument/2006/relationships/slide" Target="/ppt/slides/slide3.xml" Id="Rbffb686ab8554517" /><Relationship Type="http://schemas.openxmlformats.org/officeDocument/2006/relationships/slide" Target="/ppt/slides/slide4.xml" Id="Ra48de001fb584fc4" /><Relationship Type="http://schemas.openxmlformats.org/officeDocument/2006/relationships/slide" Target="/ppt/slides/slide5.xml" Id="R6371d88116244792" /><Relationship Type="http://schemas.openxmlformats.org/officeDocument/2006/relationships/slide" Target="/ppt/slides/slide6.xml" Id="R0a627e7e5f424842" /><Relationship Type="http://schemas.openxmlformats.org/officeDocument/2006/relationships/slide" Target="/ppt/slides/slide7.xml" Id="R81d687482f0f4b0a" /><Relationship Type="http://schemas.openxmlformats.org/officeDocument/2006/relationships/slide" Target="/ppt/slides/slide8.xml" Id="R5c9050e1bc474ca4" /><Relationship Type="http://schemas.openxmlformats.org/officeDocument/2006/relationships/slide" Target="/ppt/slides/slide9.xml" Id="Rb3c9bbf0b5be46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f1f521eef64a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0b91f316a84a53" /><Relationship Type="http://schemas.openxmlformats.org/officeDocument/2006/relationships/notesMaster" Target="/ppt/notesMasters/notesMaster1.xml" Id="Reb7c028c586c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57ccc1581746ae" /><Relationship Type="http://schemas.openxmlformats.org/officeDocument/2006/relationships/notesMaster" Target="/ppt/notesMasters/notesMaster1.xml" Id="R35fe060e97bd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f3fa6d869c4ad3" /><Relationship Type="http://schemas.openxmlformats.org/officeDocument/2006/relationships/notesMaster" Target="/ppt/notesMasters/notesMaster1.xml" Id="Rb4c5398f624d4e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2354753f644e76" /><Relationship Type="http://schemas.openxmlformats.org/officeDocument/2006/relationships/notesMaster" Target="/ppt/notesMasters/notesMaster1.xml" Id="Rdeb02693300946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30a51612314f5d" /><Relationship Type="http://schemas.openxmlformats.org/officeDocument/2006/relationships/notesMaster" Target="/ppt/notesMasters/notesMaster1.xml" Id="R5fa58af03d3b46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a5d454a61f4405" /><Relationship Type="http://schemas.openxmlformats.org/officeDocument/2006/relationships/notesMaster" Target="/ppt/notesMasters/notesMaster1.xml" Id="R962816fc88a546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4de7b5abc4645" /><Relationship Type="http://schemas.openxmlformats.org/officeDocument/2006/relationships/notesMaster" Target="/ppt/notesMasters/notesMaster1.xml" Id="Rfd8679b3124549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d49d66e9144ff6" /><Relationship Type="http://schemas.openxmlformats.org/officeDocument/2006/relationships/notesMaster" Target="/ppt/notesMasters/notesMaster1.xml" Id="Rca8fe810013f42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8e1de600a640f1" /><Relationship Type="http://schemas.openxmlformats.org/officeDocument/2006/relationships/notesMaster" Target="/ppt/notesMasters/notesMaster1.xml" Id="R585b34ba0eec40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fe61f4b0144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ae6faae9e54b1c" /><Relationship Type="http://schemas.openxmlformats.org/officeDocument/2006/relationships/slideLayout" Target="/ppt/slideLayouts/slideLayout1.xml" Id="R11bd77c2367e4e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d77c2367e4e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98aab570243a2" /><Relationship Type="http://schemas.openxmlformats.org/officeDocument/2006/relationships/notesSlide" Target="/ppt/notesSlides/notesSlide1.xml" Id="R62fe549d31284c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9eea0ef10424f" /><Relationship Type="http://schemas.openxmlformats.org/officeDocument/2006/relationships/notesSlide" Target="/ppt/notesSlides/notesSlide2.xml" Id="R0b4b2a53db0543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02d2ca3c84941" /><Relationship Type="http://schemas.openxmlformats.org/officeDocument/2006/relationships/notesSlide" Target="/ppt/notesSlides/notesSlide3.xml" Id="R3c5c9c473e4948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983c8a0be436d" /><Relationship Type="http://schemas.openxmlformats.org/officeDocument/2006/relationships/image" Target="/ppt/media/image.jpeg" Id="R2064bc0112e0419c" /><Relationship Type="http://schemas.openxmlformats.org/officeDocument/2006/relationships/image" Target="/ppt/media/image2.jpeg" Id="R9709034eb6c24010" /><Relationship Type="http://schemas.openxmlformats.org/officeDocument/2006/relationships/image" Target="/ppt/media/image3.jpeg" Id="R3652d1ca95dd434a" /><Relationship Type="http://schemas.openxmlformats.org/officeDocument/2006/relationships/image" Target="/ppt/media/image4.jpeg" Id="R94cf032d39394d00" /><Relationship Type="http://schemas.openxmlformats.org/officeDocument/2006/relationships/image" Target="/ppt/media/image5.jpeg" Id="R3a242b246ce84cc6" /><Relationship Type="http://schemas.openxmlformats.org/officeDocument/2006/relationships/image" Target="/ppt/media/image6.jpeg" Id="R1e5d957ade6947ac" /><Relationship Type="http://schemas.openxmlformats.org/officeDocument/2006/relationships/image" Target="/ppt/media/image7.jpeg" Id="R20ab447635a741a1" /><Relationship Type="http://schemas.openxmlformats.org/officeDocument/2006/relationships/image" Target="/ppt/media/image8.jpeg" Id="Rae40aea6740e40f4" /><Relationship Type="http://schemas.openxmlformats.org/officeDocument/2006/relationships/image" Target="/ppt/media/image9.jpeg" Id="R3a77c64513fd4901" /><Relationship Type="http://schemas.openxmlformats.org/officeDocument/2006/relationships/image" Target="/ppt/media/image10.jpeg" Id="R4819ef44511e45a8" /><Relationship Type="http://schemas.openxmlformats.org/officeDocument/2006/relationships/image" Target="/ppt/media/image11.jpeg" Id="R75546983944841a1" /><Relationship Type="http://schemas.openxmlformats.org/officeDocument/2006/relationships/image" Target="/ppt/media/image12.jpeg" Id="Rea9bf8594b0540e3" /><Relationship Type="http://schemas.openxmlformats.org/officeDocument/2006/relationships/notesSlide" Target="/ppt/notesSlides/notesSlide4.xml" Id="Re9a140ebaf4141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7c2b0a22c414b" /><Relationship Type="http://schemas.openxmlformats.org/officeDocument/2006/relationships/notesSlide" Target="/ppt/notesSlides/notesSlide5.xml" Id="R40961fdde13146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98626ffab483b" /><Relationship Type="http://schemas.openxmlformats.org/officeDocument/2006/relationships/notesSlide" Target="/ppt/notesSlides/notesSlide6.xml" Id="Rd74481d152084a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06bf0b2524946" /><Relationship Type="http://schemas.openxmlformats.org/officeDocument/2006/relationships/image" Target="/ppt/media/image.png" Id="R4ac27d0d3f8645aa" /><Relationship Type="http://schemas.openxmlformats.org/officeDocument/2006/relationships/image" Target="/ppt/media/image2.png" Id="Rf9ae3fc1dc17437c" /><Relationship Type="http://schemas.openxmlformats.org/officeDocument/2006/relationships/image" Target="/ppt/media/image3.png" Id="R08359fa2ca7c4113" /><Relationship Type="http://schemas.openxmlformats.org/officeDocument/2006/relationships/image" Target="/ppt/media/image4.png" Id="R7247127f752f4305" /><Relationship Type="http://schemas.openxmlformats.org/officeDocument/2006/relationships/notesSlide" Target="/ppt/notesSlides/notesSlide7.xml" Id="Rb83aa29e7de54d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ce988f941499b" /><Relationship Type="http://schemas.openxmlformats.org/officeDocument/2006/relationships/notesSlide" Target="/ppt/notesSlides/notesSlide8.xml" Id="Rb8a8e715381a4b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0b6e2e5924c77" /><Relationship Type="http://schemas.openxmlformats.org/officeDocument/2006/relationships/notesSlide" Target="/ppt/notesSlides/notesSlide9.xml" Id="R2b43b4febc394c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B1E5F7-3B3B-423B-B5D3-F558CB99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012E5-B1E8-4757-AEE3-CF003890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4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E5D05-B004-4EF4-81EE-6A23B03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E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F6BEA-BABA-42C2-9173-9EA68725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99F3D-F3D3-4556-B6E0-41E908F9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0550"/>
            <a:ext cx="3105150" cy="5562600"/>
          </a:xfrm>
          <a:prstGeom xmlns:a="http://schemas.openxmlformats.org/drawingml/2006/main" prst="roundRect">
            <a:avLst>
              <a:gd name="adj" fmla="val 98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2A35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B79B6-0764-448C-8130-36D4E15C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PROJECT04 · COMPUTER 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7A6EC-FE8F-4FD0-B438-57B79A3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OpenCV ROI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Hand Gesture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B7EF5-22C2-4C28-8F3A-7ADBABDA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직접 수집한 webcam ROI 이미지로 손 제스처를 학습하고, 실시간 추론과 피드백 재학습까지 연결한 end-to-end 프로젝트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53E88-38AF-47EB-AF02-3212DB9D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6573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B2029"/>
          </a:solidFill>
          <a:ln xmlns:a="http://schemas.openxmlformats.org/drawingml/2006/main" w="9525">
            <a:solidFill>
              <a:srgbClr val="333B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BC887-7692-461F-A73A-81095FD1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94.9%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1C690-A36E-48D1-8FB0-196F76A8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local 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7EA99-32CA-4B32-B4B4-0785F601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62550"/>
            <a:ext cx="16573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B2029"/>
          </a:solidFill>
          <a:ln xmlns:a="http://schemas.openxmlformats.org/drawingml/2006/main" w="9525">
            <a:solidFill>
              <a:srgbClr val="333B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C7D13-12B4-4158-A8CA-DE61BFC3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149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835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D0653-8F29-4654-87AA-A61DBA0C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ROI images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85226-B11A-4984-9E32-48EEC3C8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62550"/>
            <a:ext cx="16573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B2029"/>
          </a:solidFill>
          <a:ln xmlns:a="http://schemas.openxmlformats.org/drawingml/2006/main" w="9525">
            <a:solidFill>
              <a:srgbClr val="333B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BC29E-F3E6-473E-BC5D-F0C45382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149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5D4DC-B89B-4DAE-8639-76006055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34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classes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3D5D5-0C5E-4D39-BB74-AD0ADEF9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66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35495-F188-4F04-8AA2-12AC98C0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43050"/>
            <a:ext cx="22479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8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0978B-77E8-4BD1-A741-48F08B0E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668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91A1B-6E1D-4C64-BDC2-4DA538A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ROI capture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C45813-C968-49E4-B570-3D21D795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2479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8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7FF93-4C5A-4F25-880D-7A4BBAE4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717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B3012B-5E3B-4B32-B99C-14B7A775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Preprocess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9786A-17B7-4CA0-875D-4579AC9B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22479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8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8AEBCA-ECC7-4F5F-ACB0-B0898BFA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765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546DA8-BCA4-4C91-BBF2-C2557552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CNN inference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235DD0-E12A-49B0-8137-DC6E6343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22479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8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4AB4FE-B1AB-4D7C-96E1-1FD85C22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814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746AA7-1F9E-46DF-B7D4-5949B299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71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Feedback 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730FA-7C42-414E-A5A3-4883347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22479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3848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81AB9-DE1E-4495-BA8A-C977B1CD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53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CLASS SCOPE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259D54-E479-422F-BE76-4EFFA096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open / fist / peace / unknown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6C394F-BF11-47AF-8E0A-D271143E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29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OpenCV · TensorFlow/Keras · CNN · Python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A45ADC-8AD7-4AEE-B566-FD421B65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1/9</a:t>
            </a:r>
          </a:p>
        </p:txBody>
      </p:sp>
    </p:spTree>
    <p:extLst>
      <p:ext uri="{BB962C8B-B14F-4D97-AF65-F5344CB8AC3E}">
        <p14:creationId xmlns:p14="http://schemas.microsoft.com/office/powerpoint/2010/main" val="2040287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4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3584FE-B24C-4826-9E44-6327ACDF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3931B-B390-4918-8243-6BC57D02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485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6F2D5-F48B-4075-9159-221D0BDA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PROJECT DEFINITION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DDBD9-31D4-4B10-8347-B6351825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고정 ROI 안의 손 모양을 네 가지 상태로 분류합니다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4CB8C-6378-42B7-B58B-D2E42D88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A09D8-CE3B-4502-B002-1014915C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웹캠 전체 화면을 인식하는 문제가 아니라, 중앙 ROI를 잘라 같은 조건의 이미지 분류 문제로 바꾼 프로젝트입니다.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95A91-E213-4114-8764-87E19E40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1717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E7417-C9CA-4F24-AF93-64CDFAC6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webcam 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D3B54-25D0-433A-A7CE-5A872905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실시간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7BA80-8F4B-4373-A995-DB1299F8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41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F16F4-57E6-4F45-80A3-234B1EF8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21717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0A155-166D-4180-8DE5-7EDBF735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center ROI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7F76A-14AD-4CED-A00B-9411875D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320px square crop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09160-2504-4265-A63F-ABC36628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41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000F8-8F68-4DA2-8745-91EED505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21717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B3913-ECF0-49A1-89DE-23568B40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CNN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55A04-851F-4A82-A81A-917F1E41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128 x 128 x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B1576-C7E1-4C2E-A4D0-E6A05F9A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41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9E62B-54AA-43E6-B3E0-28390E26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21717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258E3-F272-48DE-B91A-54CA0746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gesture label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D3958-443A-4920-976C-545446B2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62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open / fist / peace / unknown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A7E82-5131-4313-83B9-4E3B1ABE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98869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23CF6-0AF1-4579-B9F3-9960FF26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76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EAD2BB-FB96-4BE7-AA72-A91E905C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핵심 범위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44F0D-2E71-4F71-8FB0-C2BE1A5C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unknown 클래스를 별도로 두어 지원하지 않는 손동작이나 애매한 프레임을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세 가지 제스처 중 하나로 억지 분류하지 않게 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08BD5-96B5-4DED-8AF4-915EE297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2/9</a:t>
            </a:r>
          </a:p>
        </p:txBody>
      </p:sp>
    </p:spTree>
    <p:extLst>
      <p:ext uri="{BB962C8B-B14F-4D97-AF65-F5344CB8AC3E}">
        <p14:creationId xmlns:p14="http://schemas.microsoft.com/office/powerpoint/2010/main" val="1442610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C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FD412-FC7E-4D01-A9F4-09559EF1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8DDA3-5A0C-4208-93A3-BBA4FE1A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485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D26BC-085D-424A-8691-EC90059C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TECHNOLOGY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488E4-F5D4-4476-990A-49235ED6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OpenCV로 입력을 만들고 Keras CNN으로 분류했습니다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455DB-9459-4B58-AE7C-6CB34457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C0AD6-3C7E-49B5-87A1-34B63383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343150" cy="2381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D94DD-A1DE-49E7-8429-5CD2069E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OpenCV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97434-6ABA-4382-9558-2DE47A77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webcam capture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ROI crop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BGR frame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34BD7-29C4-4738-99D6-22F14B2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52600"/>
            <a:ext cx="857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6A5A"/>
          </a:solidFill>
          <a:ln xmlns:a="http://schemas.openxmlformats.org/drawingml/2006/main" w="9525">
            <a:solidFill>
              <a:srgbClr val="ED6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3A614-06AF-4FBF-9E6E-4FCBFE1E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47900"/>
            <a:ext cx="2343150" cy="2381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0CAF1-4727-48CE-B90F-AAF4EF77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Keras CNN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A0C20-803B-40BE-A07C-568A972A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38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TensorFlow training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augmentation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model 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7B6A7-50D5-41F1-854B-5BC19DE1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52600"/>
            <a:ext cx="857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838FF-E4FB-41D1-86E1-E0B0E92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2343150" cy="2381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789E7-AB30-40D4-9AEC-C3D4DACA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EEC50-564D-4ABE-83CA-9B27A6BF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38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collector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trainer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webcam runner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AC322-D018-4C1A-8580-A97407C5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52600"/>
            <a:ext cx="857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0BEE6-8167-4225-867B-4A31BF1C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343150" cy="2381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06700-8A40-42C1-B8D3-5CAF3824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98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Project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D6BE9-435E-4C5C-9AA5-50BF9A97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38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class mapping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preprocessing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ROI behavior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6F815-2B7E-485F-8B36-BFF4E5FE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52600"/>
            <a:ext cx="857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2"/>
          </a:solidFill>
          <a:ln xmlns:a="http://schemas.openxmlformats.org/drawingml/2006/main" w="9525">
            <a:solidFill>
              <a:srgbClr val="F5B6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72F3C-8470-413A-ABB3-9C4FA302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959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기술 선택 기준은 복잡한 모델보다 직접 수집한 입력을 일관되게 처리하는 것이었습니다.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C7CA4-9222-467B-ABDF-90F9CB4C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3/9</a:t>
            </a:r>
          </a:p>
        </p:txBody>
      </p:sp>
    </p:spTree>
    <p:extLst>
      <p:ext uri="{BB962C8B-B14F-4D97-AF65-F5344CB8AC3E}">
        <p14:creationId xmlns:p14="http://schemas.microsoft.com/office/powerpoint/2010/main" val="744221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4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820BC5-01E9-40BF-B486-A32E964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8AF28-072B-40CE-8DED-726F7953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485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6E60C-0618-4E24-955E-E6964FEC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TRAINING IMAGES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9FB38-77BE-4F59-9E96-FBCB1964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실제 학습 이미지는 네 클래스 폴더로 직접 수집했습니다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E20FB-ADBB-4BBE-AE18-83F6BB3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16B59-93D1-446D-AF2D-FAD39187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open_hand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2DE51-2148-4A75-B7FE-F3661BD1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3360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045B1-29D1-47F9-8109-D87267E0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11324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176 imgs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4bc0112e041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190500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9034eb6c240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190500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2d1ca95dd43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90500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EE1C5-1F5E-416E-8A85-5AE73134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92786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99ACB-66E3-48AF-816A-05F7B321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2305050"/>
            <a:ext cx="107251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DED1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94D35-275D-4838-BCF7-0EF5E6CC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fist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62442-E678-4DEE-A810-11343939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D9E30-DDDC-4C97-8788-0D870C0E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82874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257 imgs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f032d39394d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287655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42b246ce84c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287655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d957ade6947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287655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9704A-28B6-44E7-84C1-CD015673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281511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404A0-91BE-41B2-9378-14D68CEF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714" y="3276600"/>
            <a:ext cx="18526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DED1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4A553-5637-44C0-AEFE-85855FF5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peace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30295-B9E4-458F-9737-0AE1CC96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7670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17671-AE2B-4427-AC2C-BF623A92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54424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247 imgs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b447635a741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384810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0aea6740e40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384810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7c64513fd49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384810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10FEC4-71F6-4929-975B-F452F052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2705576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2"/>
          </a:solidFill>
          <a:ln xmlns:a="http://schemas.openxmlformats.org/drawingml/2006/main" w="9525">
            <a:solidFill>
              <a:srgbClr val="F5B6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8A61E2-0C72-4ACC-B84F-853E3D9A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176" y="4248150"/>
            <a:ext cx="294799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DED1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A61D06-3A3A-4939-9510-37855608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DB99C4-1DAD-4517-8CBB-8279CAB6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4825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6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9AF3DF-0482-48BF-9AFA-3560708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25974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155 imgs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9ef44511e45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481965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46983944841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481965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bf8594b0540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4819650"/>
            <a:ext cx="895350" cy="895350"/>
          </a:xfrm>
          <a:prstGeom xmlns:a="http://schemas.openxmlformats.org/drawingml/2006/main" prst="roundRect">
            <a:avLst>
              <a:gd name="adj" fmla="val 17021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26BAF2-2FA3-4C78-8CDC-9B6B481D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169783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6A5A"/>
          </a:solidFill>
          <a:ln xmlns:a="http://schemas.openxmlformats.org/drawingml/2006/main" w="9525">
            <a:solidFill>
              <a:srgbClr val="ED6A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A2FA67-6317-41A1-A9DF-FE7E6490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431" y="5219700"/>
            <a:ext cx="130254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DED1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327E2D-06A6-495D-969A-3D5069FD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90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5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총 835장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C0B4E4-3B11-4A6E-9A8F-D8FD11A9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폴더 라벨을 기준으로 정리하고 파일명 prefix를 클래스명과 맞춰 리뷰 가능하게 만들었습니다.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12A4F0-C9B7-4990-9AF2-6DAFE445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4/9</a:t>
            </a:r>
          </a:p>
        </p:txBody>
      </p:sp>
    </p:spTree>
    <p:extLst>
      <p:ext uri="{BB962C8B-B14F-4D97-AF65-F5344CB8AC3E}">
        <p14:creationId xmlns:p14="http://schemas.microsoft.com/office/powerpoint/2010/main" val="1079127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4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E6EB97-4FE2-463A-90AD-D3ECFC5B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4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B098C-CEDB-459B-AB91-488CD8F4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AAA95-6BD2-443A-8DEA-902009B8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485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5756A-5C82-4E0F-B01C-9709D7C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TRAINING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815AA-ABDC-4737-9A17-3E569099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데이터를 버리지 않고 sample weights로 불균형을 보정했습니다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6FFEF-A809-4123-B7B8-94157217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96304-148D-457C-9250-57222241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28575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D232D"/>
          </a:solidFill>
          <a:ln xmlns:a="http://schemas.openxmlformats.org/drawingml/2006/main" w="9525">
            <a:solidFill>
              <a:srgbClr val="313A4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8CA32-5EC8-48D4-9545-78089E36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Collect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B43E8-6298-4C48-B904-F28CF7D1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OpenCV ROI images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53DAE-7378-4174-ACAD-E7BDFECC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050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A18CF-4ED2-49E6-B9D5-30597F55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81200"/>
            <a:ext cx="28575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D232D"/>
          </a:solidFill>
          <a:ln xmlns:a="http://schemas.openxmlformats.org/drawingml/2006/main" w="9525">
            <a:solidFill>
              <a:srgbClr val="313A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59C39-D17C-419D-BDC9-636D3047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Preprocess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7811E-4102-43A4-A5A5-6705C28A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resize · RGB · normalize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57904-90CA-4C1D-9649-27FA3F5E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79674-0771-478E-89EB-3F3007E6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28575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D232D"/>
          </a:solidFill>
          <a:ln xmlns:a="http://schemas.openxmlformats.org/drawingml/2006/main" w="9525">
            <a:solidFill>
              <a:srgbClr val="313A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147FE-90D6-4432-A9CA-BBB67938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rPr>
              <a:t>Augment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58464-0AAB-4BD9-B6AC-5D3D30E3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flip · rotate · zoom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461DF-852E-418B-9086-981DB01B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28575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D232D"/>
          </a:solidFill>
          <a:ln xmlns:a="http://schemas.openxmlformats.org/drawingml/2006/main" w="9525">
            <a:solidFill>
              <a:srgbClr val="313A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09BE0-CBA0-4564-9974-E667E80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Train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70956-9FDC-44CC-9F70-873246A5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CNN + sample weights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0A363-7E80-4743-B39A-1B25D071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2430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3782D-A12A-4164-B034-9AB68573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00450"/>
            <a:ext cx="28575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D232D"/>
          </a:solidFill>
          <a:ln xmlns:a="http://schemas.openxmlformats.org/drawingml/2006/main" w="9525">
            <a:solidFill>
              <a:srgbClr val="313A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CAC89-6398-4585-8E2A-DEAA0E6C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B33E9-D931-4F6E-8A76-98533580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wrong ROI → dataset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0AD51-2B92-443E-9392-616A8EFB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65180C-5AA7-43BF-9491-C65E72A2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28575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D232D"/>
          </a:solidFill>
          <a:ln xmlns:a="http://schemas.openxmlformats.org/drawingml/2006/main" w="9525">
            <a:solidFill>
              <a:srgbClr val="313A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349A72-C65D-4D4F-BDCB-4F454D31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Retrain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214851-C008-406E-8E3D-5E01ABA2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best checkpoint saved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ED22B-EDE1-41A2-8426-4516E585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96202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9525">
            <a:solidFill>
              <a:srgbClr val="313A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9E0BC4-A77B-4C92-A406-FE78F5EB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0200"/>
            <a:ext cx="1123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93D34-DB03-480D-B650-4AFA1C2A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97068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최종 선택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AA9089-F3AF-4C16-825B-18294D42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53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`--no-balance`로 전체 데이터를 유지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430A40-E54F-4A66-B992-C8BE3080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클래스 불균형은 sample weights로 보정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0537A9-8671-4E9C-951D-B98DA21C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5/9</a:t>
            </a:r>
          </a:p>
        </p:txBody>
      </p:sp>
    </p:spTree>
    <p:extLst>
      <p:ext uri="{BB962C8B-B14F-4D97-AF65-F5344CB8AC3E}">
        <p14:creationId xmlns:p14="http://schemas.microsoft.com/office/powerpoint/2010/main" val="737051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4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BB90C1-6589-4309-9456-E1746503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39D83-C213-4F01-9A96-D099E86F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485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2D687-787B-41A8-9346-2EDC0647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CORE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14DF2-E603-4460-9206-64B36C28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핵심은 같은 ROI 규칙을 학습과 추론에 공유하는 부분입니다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ABDCA-3396-4BB3-8F3B-0BF8C9FA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1BA99-3956-4362-8325-E824248F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43500" cy="3867150"/>
          </a:xfrm>
          <a:prstGeom xmlns:a="http://schemas.openxmlformats.org/drawingml/2006/main" prst="roundRect">
            <a:avLst>
              <a:gd name="adj" fmla="val 5419"/>
            </a:avLst>
          </a:prstGeom>
          <a:solidFill xmlns:a="http://schemas.openxmlformats.org/drawingml/2006/main">
            <a:srgbClr val="11151C"/>
          </a:solidFill>
          <a:ln xmlns:a="http://schemas.openxmlformats.org/drawingml/2006/main" w="9525">
            <a:solidFill>
              <a:srgbClr val="2732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E8A7E-E944-4D3F-966A-FC25D4B7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C8D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EC8D8"/>
                </a:solidFill>
                <a:latin typeface="Menlo"/>
                <a:ea typeface="Menlo"/>
                <a:cs typeface="Menlo"/>
              </a:rPr>
              <a:t>project04_hand_gesture_utils.py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8BD11-0FBF-4721-BF52-4B1D2CC3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8D3D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8D3DF"/>
                </a:solidFill>
                <a:latin typeface="Menlo"/>
                <a:ea typeface="Menlo"/>
                <a:cs typeface="Menlo"/>
              </a:rPr>
              <a:t>resized = cv2.resize(roi, (128, 128))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2049B-0CE4-49B7-B9E5-0E4844A5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8D3D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8D3DF"/>
                </a:solidFill>
                <a:latin typeface="Menlo"/>
                <a:ea typeface="Menlo"/>
                <a:cs typeface="Menlo"/>
              </a:rPr>
              <a:t>rgb = cv2.cvtColor(resized, cv2.COLOR_BGR2RGB)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F7CC7-D336-4E6F-84D9-BE1AD71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8D3D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8D3DF"/>
                </a:solidFill>
                <a:latin typeface="Menlo"/>
                <a:ea typeface="Menlo"/>
                <a:cs typeface="Menlo"/>
              </a:rPr>
              <a:t>normalized = rgb.astype(np.float32) / 255.0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F652E-A2C5-4D5D-9D65-EE4F34A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7EAF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7EAF0"/>
                </a:solidFill>
                <a:latin typeface="Menlo"/>
                <a:ea typeface="Menlo"/>
                <a:cs typeface="Menlo"/>
              </a:rPr>
              <a:t>prediction = model.predict(sample, verbose=0)[0]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38493-8F61-4F14-A511-AC83C0F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CE87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3CE878"/>
                </a:solidFill>
                <a:latin typeface="Menlo"/>
                <a:ea typeface="Menlo"/>
                <a:cs typeface="Menlo"/>
              </a:rPr>
              <a:t>if confidence &lt; threshold: return "unknown"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96D27-A6BA-4EFD-A131-3888297B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CE87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3CE878"/>
                </a:solidFill>
                <a:latin typeface="Menlo"/>
                <a:ea typeface="Menlo"/>
                <a:cs typeface="Menlo"/>
              </a:rPr>
              <a:t>if margin &lt; unknown_margin: return "unknown"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ED265-1658-4E58-A160-2518BE47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44005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B8EDA-D29A-44FE-BE5C-48FD6D45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952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6A5A"/>
          </a:solidFill>
          <a:ln xmlns:a="http://schemas.openxmlformats.org/drawingml/2006/main" w="9525">
            <a:solidFill>
              <a:srgbClr val="ED6A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1D789-F5C5-477E-9CB4-E2BDD7F1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ROI crop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EFFE6-9C47-4ADA-83A6-7B1931B2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954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crop_center_roi()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중앙 정사각형 영역 추출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138C1-56D7-41CE-874E-A42D203E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4005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3026B-0E99-4BFD-9075-E127E0C6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952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2BDAF-665D-4B80-A823-AC6D029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Preprocess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C9360-C30D-4F86-B819-7CDD1705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479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128 x 128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BGR → RGB → 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1D153-F651-45EF-93DF-1EDAE348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44005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C43E9-3102-43E6-B37E-BAD15B31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952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41FA0-EB89-4818-AC01-5DE4BB12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Prediction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DB800-2C09-48B4-8714-1F19260E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004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softmax 결과를 threshold와 margin으로 보정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75B37-B785-4585-A326-9FDDC4A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44005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B3698-F387-4B74-9261-F33DE98B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952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2"/>
          </a:solidFill>
          <a:ln xmlns:a="http://schemas.openxmlformats.org/drawingml/2006/main" w="9525">
            <a:solidFill>
              <a:srgbClr val="F5B6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66A78-B7F5-4FC2-B5AD-1481D55F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Feedback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FAB633-F3D4-4548-9716-6DDCB34B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529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키 입력으로 ROI를 class folder에 저장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3A3C6-3A10-4550-9955-D954FAFF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6/9</a:t>
            </a:r>
          </a:p>
        </p:txBody>
      </p:sp>
    </p:spTree>
    <p:extLst>
      <p:ext uri="{BB962C8B-B14F-4D97-AF65-F5344CB8AC3E}">
        <p14:creationId xmlns:p14="http://schemas.microsoft.com/office/powerpoint/2010/main" val="388323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4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36052-DD52-4063-BA2A-BFA23303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4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E1CFE-0082-466F-8362-AF820ED0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7D550-D684-418C-96DD-44F5FB56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485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11780-68F9-4A8D-AEB5-8D41C44F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LIVE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5D564-CD5A-4A96-8564-935EB29F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실제 webcam 테스트 화면에서 네 상태를 확인했습니다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A5A91-63C3-456E-A3F1-8A5606B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61EED-D681-44F1-9111-09BBB272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open_hand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27d0d3f8645aa"/>
          <a:srcRect xmlns:a="http://schemas.openxmlformats.org/drawingml/2006/main" l="0" t="10310" r="0" b="10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1943100"/>
            <a:ext cx="4095750" cy="1828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E6C9D-7A11-4E03-A834-34CF8567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0957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EE20A-6060-4FBA-AF37-F1043648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fist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e3fc1dc17437c"/>
          <a:srcRect xmlns:a="http://schemas.openxmlformats.org/drawingml/2006/main" l="0" t="10310" r="0" b="10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943100"/>
            <a:ext cx="409575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46E29-9BC4-4358-9F5A-10DFB971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0957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0EE0E-F5E2-4A3E-976A-2314532F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peace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59fa2ca7c4113"/>
          <a:srcRect xmlns:a="http://schemas.openxmlformats.org/drawingml/2006/main" l="0" t="10310" r="0" b="10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4438650"/>
            <a:ext cx="4095750" cy="18288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025D5-4A0F-48E9-91DF-1C294B2D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62700"/>
            <a:ext cx="40957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5D811-7AFB-4A0B-82F1-B23BEE44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7127f752f4305"/>
          <a:srcRect xmlns:a="http://schemas.openxmlformats.org/drawingml/2006/main" l="0" t="10310" r="0" b="10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4438650"/>
            <a:ext cx="4095750" cy="18288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C3560-5B94-4FD4-81E2-9983B84B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62700"/>
            <a:ext cx="40957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2"/>
          </a:solidFill>
          <a:ln xmlns:a="http://schemas.openxmlformats.org/drawingml/2006/main" w="9525">
            <a:solidFill>
              <a:srgbClr val="F5B6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15423-CCD9-45D6-8B91-97D05544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3143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464C5-231A-4EBB-B73F-8FA1662B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44168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threshold + unknown margin applied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9A2DE-C2EE-4ADD-86D4-FBE7CA9F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7/9</a:t>
            </a:r>
          </a:p>
        </p:txBody>
      </p:sp>
    </p:spTree>
    <p:extLst>
      <p:ext uri="{BB962C8B-B14F-4D97-AF65-F5344CB8AC3E}">
        <p14:creationId xmlns:p14="http://schemas.microsoft.com/office/powerpoint/2010/main" val="5134902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4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122D55-9E9F-4F0C-A2DC-7DF03DAF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27E03-4B43-40A1-88C3-5549C335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485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87E36-903D-4F63-AF54-7944D443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INSIGHTS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DF01B-13D3-47A1-8386-FC81C520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정확도보다 입력 조건과 예외 클래스 설계가 더 중요했습니다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46620-32F5-4539-94F3-2055A34A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AE481-131C-4ACA-A71A-3602F8A9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38504-D643-4E51-804F-9C63050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19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Unknown class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99211-E714-441E-8F24-03F8CA3F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384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`unknown`이 없으면 애매한 손동작도 지원 제스처로 강제 분류됩니다.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F2A43-0DF5-4C8A-9160-A4D1AA83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793E5-75A4-4672-BE8F-EFF87DC3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24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Data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5BD19-6BEC-4B48-98CC-34C53F9F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43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작은 CNN에서는 모델 구조보다 대표성 있는 직접 수집 데이터가 더 크게 작용했습니다.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F5090-B0FE-4570-85D6-CFECA820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D6933-9034-4369-A4F2-664B4C04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ROI consistency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1ABE0-69A9-40F9-87AE-6DF3C78E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482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학습과 추론에서 같은 crop, resize, color rule을 쓰는 것이 안정성의 기준입니다.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D2A21-9FD4-4DF7-8ACF-8016D8AE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209800" cy="23622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3EBD6-676A-492C-A2D6-D378CF6F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792 / 835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364A5-9E97-490A-BA52-C39193DE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575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7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94.9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3B034-EEF5-4D98-958C-B29AC14A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289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7962B-95F6-4ED9-9AAA-CE961CEB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14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로컬 수집 데이터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EC02C-BC2B-4A8B-BCB0-3953DCEA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62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개발 검증 지표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964A1-ED70-4AFE-8609-80F18AAB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8/9</a:t>
            </a:r>
          </a:p>
        </p:txBody>
      </p:sp>
    </p:spTree>
    <p:extLst>
      <p:ext uri="{BB962C8B-B14F-4D97-AF65-F5344CB8AC3E}">
        <p14:creationId xmlns:p14="http://schemas.microsoft.com/office/powerpoint/2010/main" val="2514393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C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E23C41-B760-4DC4-BEFC-60619161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9525">
            <a:solidFill>
              <a:srgbClr val="3CE8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30871-6258-4FD4-9DAE-B7E31B98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485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D8"/>
          </a:solidFill>
          <a:ln xmlns:a="http://schemas.openxmlformats.org/drawingml/2006/main" w="9525">
            <a:solidFill>
              <a:srgbClr val="5EC8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585D4-D92B-4FB2-94B8-AFA29AFD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NEXT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ED61D-05E8-48FF-ADC5-1A557AD9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다음 단계는 평가 분리와 더 다양한 환경 데이터입니다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D94F8-0EAC-491F-A1EB-690A04E0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21787-0636-4265-9570-85CBE033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667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F51FB-1DB8-4473-91AF-56277725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E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E016B-4E00-46B4-91FA-67D32767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38578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AD811-57F9-4DC5-9036-A83C119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71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test set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297AC-564F-4F65-BC00-5C360A1C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33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미사용 데이터로 일반화 성능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B84E5-7A80-46C4-8217-FB59D1AE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4667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FA09D-6104-407B-91FB-93E2F7A7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31A48-9DA2-4A4F-8FA8-DA800B9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38578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BE089-B37D-4002-B424-A399014B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71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confusion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ACDE0-7039-4209-B29F-0A331952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클래스별 혼동 패턴 시각화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8E144-94E3-455C-873D-E1AFDBDA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667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53D1B-127D-4C77-85E0-63D345A8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D57BD-9CA1-48A7-B4E5-74E70B1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7328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D3513-9487-40B3-88C9-5F9991B6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004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unknown 보강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A42F1-4F8C-4AC4-AECA-14A8B1DE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62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빈 배경, 물체, 부분 손 등 추가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9A0A8-1BF7-471E-9A53-5250E4DD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4667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19212D"/>
          </a:solidFill>
          <a:ln xmlns:a="http://schemas.openxmlformats.org/drawingml/2006/main" w="9525">
            <a:solidFill>
              <a:srgbClr val="3441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CD067-1D91-4EE3-9795-99DFCFE2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651F2-F79D-4A5B-821D-736C71DC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67328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4EB0B-46DC-4F7A-A5A4-76718BA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MediaPipe 검토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7D979-DD4D-449B-A434-4CE7156C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62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landmark 기반 접근으로 확장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689E3-82DD-483E-8EEE-A77FBD35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마무리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79C37-32BC-44D8-9A48-5C649F09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149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이 프로젝트의 핵심 학습은 모델을 키우기 전에 입력 조건, 데이터 품질, 예외 클래스를 먼저 설계해야 한다는 점입니다.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E4EEEA-1FA0-4D8C-9947-0AE020BC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9/9</a:t>
            </a:r>
          </a:p>
        </p:txBody>
      </p:sp>
    </p:spTree>
    <p:extLst>
      <p:ext uri="{BB962C8B-B14F-4D97-AF65-F5344CB8AC3E}">
        <p14:creationId xmlns:p14="http://schemas.microsoft.com/office/powerpoint/2010/main" val="1810949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2026-07-04T15:31:15.2950000Z</dcterms:created>
  <dcterms:modified xsi:type="dcterms:W3CDTF">2026-07-04T15:31:15.2950000Z</dcterms:modified>
</coreProperties>
</file>